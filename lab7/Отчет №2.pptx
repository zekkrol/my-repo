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334" r:id="rId6"/>
    <p:sldId id="335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33" r:id="rId18"/>
  </p:sldIdLst>
  <p:sldSz cx="12954000" cy="6832600"/>
  <p:notesSz cx="6858000" cy="9144000"/>
  <p:embeddedFontLst>
    <p:embeddedFont>
      <p:font typeface="Helvetica Neue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06" y="326"/>
      </p:cViewPr>
      <p:guideLst>
        <p:guide orient="horz" pos="2152"/>
        <p:guide pos="4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741d0dff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3741d0dffc_0_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3741d0dff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3741d0dffc_0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986F224B-BE72-65AE-F2F4-6999ECAD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93B60FEA-B766-B970-38A7-6DFC7FE0F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E8BF97C1-C784-1C96-6B2F-C488142AB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5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7929EEB-7CE0-6433-30C8-16E0C8B3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C8E1FF49-EEF7-474C-ADAC-96F09BF70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5C3FE695-8D0C-B129-2D6B-F509A8FBD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1316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D24FF6DA-683B-01FA-0DA1-17C56AB2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69C382BD-DA5B-8B39-5508-31ADD1E14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5F5FAC8D-3E62-6428-5006-6B8F444C6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160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624283D9-02CA-23E8-04A3-75C4ABB5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77FC03AA-1274-6DA9-E749-F15A14BCE9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FD9FAC77-4477-BCA2-E804-574EBE4F1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5562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205C462B-9924-8427-71F0-55B89804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501F60A5-A9AF-C07B-685E-F1ADD0E98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7985A891-3CB6-E1C2-4D43-6CBD1531F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1399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A4191DD-37F7-7EB2-513A-93F22066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81975263-5AE0-0ECE-71EE-6C4A8F916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AC1F0F90-2CEE-2D08-CC12-91B92643E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1937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E1F578F-81AE-F192-1163-347193D20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D2D77003-D5B6-DFEB-F5E4-ABA9A7610F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DB9D88DE-7EA5-B77A-489E-1A4AA0077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8904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76F2B47D-D840-54A0-2B32-63F665857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41FFFFED-C8BE-B6F9-DC06-D88EC2CD7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4F58992A-4E7A-F367-04D5-D2792EE8E8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8811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33A541A9-BF24-BA00-F992-38865DE9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A3351632-4601-1612-9019-B3B0EFF0A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67CFE5EF-A780-FF73-D4AE-49413C348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7712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6C0288D-709B-AE37-3F02-D29D36D64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1CB0FDA9-872D-C584-9CFF-B2F4D7C020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A589866D-F17F-E18E-5C48-2F585C293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2240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C01FDFD-454D-79CF-2054-3E812BE0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D3B8A896-2A0C-023B-5A0F-73BF2A7CA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BB952F32-3CEC-BF86-CAF0-6880BB063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0473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8673E9D6-2A5E-6A85-2D3E-317B7BBF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7DF33FC7-7AF5-56D5-5DAE-7C0CC3D317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F04DCE04-96CB-E80D-6427-689527640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432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Титульный слайд" type="tx">
  <p:cSld name="TITLE_AND_BODY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16863" y="3971147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" name="Google Shape;17;p2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" name="Google Shape;21;p2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>
  <p:cSld name="Рисунок с подписью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772664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устой слайд">
  <p:cSld name="1_Пустой слайд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>
  <p:cSld name="Титульный слайд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44" name="Google Shape;44;p6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620044" y="1119505"/>
            <a:ext cx="9720264" cy="2381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1620044" y="3592865"/>
            <a:ext cx="9720264" cy="1651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Титульный слайд">
  <p:cSld name="1_Титульный слайд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52" name="Google Shape;52;p7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900000" y="919196"/>
            <a:ext cx="8649708" cy="53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4981302" y="2751908"/>
            <a:ext cx="6696893" cy="2492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2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Титульный слайд">
  <p:cSld name="2_Титульный слайд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77012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300546" y="2269023"/>
            <a:ext cx="6871064" cy="2492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8" descr="Picture 16"/>
          <p:cNvPicPr preferRelativeResize="0"/>
          <p:nvPr/>
        </p:nvPicPr>
        <p:blipFill rotWithShape="1">
          <a:blip r:embed="rId2">
            <a:alphaModFix/>
          </a:blip>
          <a:srcRect t="4828"/>
          <a:stretch/>
        </p:blipFill>
        <p:spPr>
          <a:xfrm>
            <a:off x="10684389" y="-1"/>
            <a:ext cx="1950722" cy="9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64" name="Google Shape;64;p8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>
  <p:cSld name="Заголовок и объект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69" name="Google Shape;69;p9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891024" y="1820976"/>
            <a:ext cx="11205727" cy="434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Рисунок с подписью">
  <p:cSld name="1_Рисунок с подписью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77" name="Google Shape;77;p10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900000" y="863999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3"/>
          </p:nvPr>
        </p:nvSpPr>
        <p:spPr>
          <a:xfrm>
            <a:off x="838360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Рисунок с подписью">
  <p:cSld name="2_Рисунок с подписью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1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87" name="Google Shape;87;p1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1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1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Рисунок с подписью">
  <p:cSld name="3_Рисунок с подписью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2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8" name="Google Shape;98;p12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2"/>
          <p:cNvSpPr>
            <a:spLocks noGrp="1"/>
          </p:cNvSpPr>
          <p:nvPr>
            <p:ph type="pic" idx="5"/>
          </p:nvPr>
        </p:nvSpPr>
        <p:spPr>
          <a:xfrm>
            <a:off x="4340995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6"/>
          </p:nvPr>
        </p:nvSpPr>
        <p:spPr>
          <a:xfrm>
            <a:off x="701910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2"/>
          <p:cNvSpPr>
            <a:spLocks noGrp="1"/>
          </p:cNvSpPr>
          <p:nvPr>
            <p:ph type="pic" idx="7"/>
          </p:nvPr>
        </p:nvSpPr>
        <p:spPr>
          <a:xfrm>
            <a:off x="970134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>
  <p:cSld name="Заголовок раздела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12" name="Google Shape;112;p1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884274" y="1705385"/>
            <a:ext cx="11178303" cy="284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  <a:defRPr sz="59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884274" y="4577777"/>
            <a:ext cx="11178303" cy="1496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>
  <p:cSld name="Только заголовок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0" name="Google Shape;120;p14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1" name="Google Shape;121;p14"/>
          <p:cNvSpPr txBox="1">
            <a:spLocks noGrp="1"/>
          </p:cNvSpPr>
          <p:nvPr>
            <p:ph type="title"/>
          </p:nvPr>
        </p:nvSpPr>
        <p:spPr>
          <a:xfrm>
            <a:off x="891024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Титульный слайд">
  <p:cSld name="7_Титульный слайд">
    <p:bg>
      <p:bgPr>
        <a:solidFill>
          <a:srgbClr val="80808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6" name="Google Shape;126;p15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9" name="Google Shape;129;p15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0" name="Google Shape;130;p15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Титульный слайд">
  <p:cSld name="8_Титульный слайд">
    <p:bg>
      <p:bgPr>
        <a:solidFill>
          <a:srgbClr val="A6A6A6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5" name="Google Shape;135;p16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38" name="Google Shape;138;p16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9" name="Google Shape;139;p16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6385741" y="6528114"/>
            <a:ext cx="176292" cy="174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300" tIns="25300" rIns="25300" bIns="253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Рисунок 9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" name="Google Shape;9;p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Google Shape;10;p1" descr="Рисунок 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902203" y="0"/>
            <a:ext cx="1058147" cy="684053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47700" y="273620"/>
            <a:ext cx="11658600" cy="132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47700" y="1594273"/>
            <a:ext cx="11658600" cy="523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pmn.i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lcode.ru/service/news/populyarnie-voprosy-otvety/kompaniya-poluchila-trebovaniya-na-uplatu-strahov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/>
          </p:nvPr>
        </p:nvSpPr>
        <p:spPr>
          <a:xfrm>
            <a:off x="827525" y="1257075"/>
            <a:ext cx="1057740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ru-RU" dirty="0"/>
              <a:t>Лабораторная работа №2</a:t>
            </a:r>
            <a:endParaRPr lang="en-US" dirty="0"/>
          </a:p>
        </p:txBody>
      </p:sp>
      <p:sp>
        <p:nvSpPr>
          <p:cNvPr id="286" name="Google Shape;286;p35"/>
          <p:cNvSpPr txBox="1">
            <a:spLocks noGrp="1"/>
          </p:cNvSpPr>
          <p:nvPr>
            <p:ph type="body" idx="1"/>
          </p:nvPr>
        </p:nvSpPr>
        <p:spPr>
          <a:xfrm>
            <a:off x="8990091" y="5078387"/>
            <a:ext cx="2350200" cy="1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/>
              <a:t>Выполнил</a:t>
            </a:r>
            <a:r>
              <a:rPr lang="ru-RU" sz="1400" dirty="0"/>
              <a:t>и</a:t>
            </a:r>
            <a:r>
              <a:rPr lang="en-US" sz="1400" dirty="0"/>
              <a:t>: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/>
              <a:t>Лапшов Артем</a:t>
            </a:r>
            <a:r>
              <a:rPr lang="ru-RU" sz="1400" dirty="0"/>
              <a:t>,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ru-RU" sz="1400" dirty="0"/>
              <a:t>Павликов Максим</a:t>
            </a:r>
            <a:endParaRPr sz="1400" dirty="0"/>
          </a:p>
        </p:txBody>
      </p:sp>
      <p:sp>
        <p:nvSpPr>
          <p:cNvPr id="287" name="Google Shape;287;p35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lang="ru-RU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88" name="Google Shape;288;p35"/>
          <p:cNvSpPr txBox="1"/>
          <p:nvPr/>
        </p:nvSpPr>
        <p:spPr>
          <a:xfrm>
            <a:off x="1223475" y="3539500"/>
            <a:ext cx="7504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35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202</a:t>
            </a:r>
            <a:r>
              <a:rPr lang="ru-RU" sz="1800" dirty="0">
                <a:solidFill>
                  <a:schemeClr val="lt1"/>
                </a:solidFill>
              </a:rPr>
              <a:t>6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/>
          <p:nvPr/>
        </p:nvSpPr>
        <p:spPr>
          <a:xfrm>
            <a:off x="584425" y="6387200"/>
            <a:ext cx="8148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95" name="Google Shape;295;p36"/>
          <p:cNvSpPr txBox="1">
            <a:spLocks noGrp="1"/>
          </p:cNvSpPr>
          <p:nvPr>
            <p:ph type="title"/>
          </p:nvPr>
        </p:nvSpPr>
        <p:spPr>
          <a:xfrm>
            <a:off x="947225" y="442250"/>
            <a:ext cx="9627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algn="ctr"/>
            <a:r>
              <a:rPr lang="ru-RU" dirty="0">
                <a:highlight>
                  <a:srgbClr val="FFFFFF"/>
                </a:highlight>
              </a:rPr>
              <a:t>Используемое ПО</a:t>
            </a:r>
          </a:p>
        </p:txBody>
      </p:sp>
      <p:sp>
        <p:nvSpPr>
          <p:cNvPr id="296" name="Google Shape;296;p36"/>
          <p:cNvSpPr txBox="1">
            <a:spLocks noGrp="1"/>
          </p:cNvSpPr>
          <p:nvPr>
            <p:ph type="body" idx="1"/>
          </p:nvPr>
        </p:nvSpPr>
        <p:spPr>
          <a:xfrm>
            <a:off x="258299" y="1706661"/>
            <a:ext cx="11369271" cy="238636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sz="1800" b="1" dirty="0"/>
              <a:t>Браузер:</a:t>
            </a:r>
            <a:r>
              <a:rPr lang="ru-RU" sz="1800" dirty="0"/>
              <a:t> Google </a:t>
            </a:r>
            <a:r>
              <a:rPr lang="ru-RU" sz="1800" dirty="0" err="1"/>
              <a:t>Chrome</a:t>
            </a:r>
            <a:r>
              <a:rPr lang="ru-RU" sz="1800" dirty="0"/>
              <a:t> / Yandex (для поиска документа и описаний).</a:t>
            </a:r>
          </a:p>
          <a:p>
            <a:r>
              <a:rPr lang="ru-RU" sz="1800" b="1" dirty="0"/>
              <a:t>Текстовый редактор:</a:t>
            </a:r>
            <a:r>
              <a:rPr lang="ru-RU" sz="1800" dirty="0"/>
              <a:t> Microsoft Word / Google </a:t>
            </a:r>
            <a:r>
              <a:rPr lang="ru-RU" sz="1800" dirty="0" err="1"/>
              <a:t>Docs</a:t>
            </a:r>
            <a:r>
              <a:rPr lang="ru-RU" sz="1800" dirty="0"/>
              <a:t> (для оформления отчета).</a:t>
            </a:r>
          </a:p>
          <a:p>
            <a:r>
              <a:rPr lang="ru-RU" sz="1800" b="1" dirty="0"/>
              <a:t>Инструмент BPMN-моделирования:</a:t>
            </a:r>
            <a:r>
              <a:rPr lang="ru-RU" sz="1800" dirty="0"/>
              <a:t> </a:t>
            </a:r>
            <a:r>
              <a:rPr lang="ru-RU" sz="1800" i="1" dirty="0"/>
              <a:t>Выбор одного из вариантов</a:t>
            </a:r>
            <a:r>
              <a:rPr lang="ru-RU" sz="1800" dirty="0"/>
              <a:t>:</a:t>
            </a:r>
          </a:p>
          <a:p>
            <a:pPr lvl="1"/>
            <a:r>
              <a:rPr lang="ru-RU" sz="1800" b="1" dirty="0"/>
              <a:t>Online:</a:t>
            </a:r>
            <a:r>
              <a:rPr lang="ru-RU" sz="1800" dirty="0"/>
              <a:t> </a:t>
            </a:r>
            <a:r>
              <a:rPr lang="ru-RU" sz="1800" dirty="0">
                <a:hlinkClick r:id="rId3"/>
              </a:rPr>
              <a:t>BPMN.io</a:t>
            </a:r>
            <a:r>
              <a:rPr lang="ru-RU" sz="1800" dirty="0"/>
              <a:t> (бесплатный, онлайн, не требует установки) .</a:t>
            </a:r>
          </a:p>
          <a:p>
            <a:pPr lvl="1"/>
            <a:r>
              <a:rPr lang="ru-RU" sz="1800" b="1" dirty="0"/>
              <a:t>Desktop:</a:t>
            </a:r>
            <a:r>
              <a:rPr lang="ru-RU" sz="1800" dirty="0"/>
              <a:t> </a:t>
            </a:r>
            <a:r>
              <a:rPr lang="ru-RU" sz="1800" dirty="0" err="1"/>
              <a:t>Bizagi</a:t>
            </a:r>
            <a:r>
              <a:rPr lang="ru-RU" sz="1800" dirty="0"/>
              <a:t> </a:t>
            </a:r>
            <a:r>
              <a:rPr lang="ru-RU" sz="1800" dirty="0" err="1"/>
              <a:t>Modeler</a:t>
            </a:r>
            <a:r>
              <a:rPr lang="ru-RU" sz="1800" dirty="0"/>
              <a:t> (бесплатный, поддерживает полную спецификацию BPMN 2.0) .</a:t>
            </a:r>
          </a:p>
          <a:p>
            <a:r>
              <a:rPr lang="ru-RU" sz="1800" b="1" dirty="0"/>
              <a:t>СУБД для проектирования</a:t>
            </a:r>
            <a:endParaRPr lang="ru-RU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869350" y="385700"/>
            <a:ext cx="9627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ru-RU" sz="3200" dirty="0"/>
              <a:t>Цель работы</a:t>
            </a:r>
            <a:endParaRPr lang="ru-RU" dirty="0"/>
          </a:p>
        </p:txBody>
      </p:sp>
      <p:sp>
        <p:nvSpPr>
          <p:cNvPr id="304" name="Google Shape;304;p37"/>
          <p:cNvSpPr txBox="1"/>
          <p:nvPr/>
        </p:nvSpPr>
        <p:spPr>
          <a:xfrm>
            <a:off x="584425" y="1713968"/>
            <a:ext cx="11563663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dirty="0"/>
              <a:t>Получение практических навыков реквизитного анализа первичных экономических документов, изучение стандарта описания бизнес-процессов BPMN 2.0 и проектирование структуры базы данных (концептуальной, логической, физической) для хранения информации документа.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696999" y="1439365"/>
            <a:ext cx="10659101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dirty="0"/>
              <a:t>Для анализа был использован документ «Платежное поручение № 9 от 11.02.2025» (форма 0401060), предназначенный для уплаты страховых взносов в СФР (Социальный фонд России).</a:t>
            </a:r>
          </a:p>
          <a:p>
            <a:endParaRPr lang="ru-RU" sz="1800" dirty="0"/>
          </a:p>
          <a:p>
            <a:r>
              <a:rPr lang="ru-RU" sz="1800" dirty="0"/>
              <a:t>В соответствии с теоретическим материалом, в структуре документа выделены:</a:t>
            </a:r>
          </a:p>
          <a:p>
            <a:r>
              <a:rPr lang="ru-RU" sz="1800" b="1" dirty="0"/>
              <a:t>Общая (заголовочная) часть</a:t>
            </a:r>
            <a:r>
              <a:rPr lang="ru-RU" sz="1800" dirty="0"/>
              <a:t> — реквизиты, характеризующие документ в целом.</a:t>
            </a:r>
          </a:p>
          <a:p>
            <a:r>
              <a:rPr lang="ru-RU" sz="1800" b="1" dirty="0"/>
              <a:t>Предметная (содержательная) часть</a:t>
            </a:r>
            <a:r>
              <a:rPr lang="ru-RU" sz="1800" dirty="0"/>
              <a:t> — строки, содержащие количественную характеристику операции (сумма, КБК, ОКТМО и т.д.) и качественные признаки платежа.</a:t>
            </a:r>
          </a:p>
          <a:p>
            <a:r>
              <a:rPr lang="ru-RU" sz="1800" b="1" dirty="0"/>
              <a:t>Оформительская (</a:t>
            </a:r>
            <a:r>
              <a:rPr lang="ru-RU" sz="1800" b="1" dirty="0" err="1"/>
              <a:t>заверительная</a:t>
            </a:r>
            <a:r>
              <a:rPr lang="ru-RU" sz="1800" b="1" dirty="0"/>
              <a:t>) часть</a:t>
            </a:r>
            <a:r>
              <a:rPr lang="ru-RU" sz="1800" dirty="0"/>
              <a:t> — подписи, печати, отметки банка.</a:t>
            </a:r>
          </a:p>
          <a:p>
            <a:endParaRPr lang="ru-RU" sz="1800" dirty="0"/>
          </a:p>
        </p:txBody>
      </p:sp>
      <p:sp>
        <p:nvSpPr>
          <p:cNvPr id="312" name="Google Shape;312;p38"/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Реквизитный Анализ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FBE3129B-6552-951F-DB73-1E718D1B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BAAAA87-DFAC-BF9E-9359-9D81425DF257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52482002-65CF-8C14-7A6E-26486F18C949}"/>
              </a:ext>
            </a:extLst>
          </p:cNvPr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Таблица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B1A9218-A61B-97D0-258A-96F747D7C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805971"/>
              </p:ext>
            </p:extLst>
          </p:nvPr>
        </p:nvGraphicFramePr>
        <p:xfrm>
          <a:off x="2002950" y="1141537"/>
          <a:ext cx="8948100" cy="501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53">
                  <a:extLst>
                    <a:ext uri="{9D8B030D-6E8A-4147-A177-3AD203B41FA5}">
                      <a16:colId xmlns:a16="http://schemas.microsoft.com/office/drawing/2014/main" val="1440198789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2225419513"/>
                    </a:ext>
                  </a:extLst>
                </a:gridCol>
                <a:gridCol w="1236689">
                  <a:extLst>
                    <a:ext uri="{9D8B030D-6E8A-4147-A177-3AD203B41FA5}">
                      <a16:colId xmlns:a16="http://schemas.microsoft.com/office/drawing/2014/main" val="2299814723"/>
                    </a:ext>
                  </a:extLst>
                </a:gridCol>
                <a:gridCol w="2024072">
                  <a:extLst>
                    <a:ext uri="{9D8B030D-6E8A-4147-A177-3AD203B41FA5}">
                      <a16:colId xmlns:a16="http://schemas.microsoft.com/office/drawing/2014/main" val="833340576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36328162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074205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789009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п/п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Часть документа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части (по методичке)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реквизита во </a:t>
                      </a:r>
                      <a:r>
                        <a:rPr lang="ru-RU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внемаш</a:t>
                      </a: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документе (содержание из файла)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Перенос в норм. файл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 в норм. файле (лат.)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реквизита</a:t>
                      </a:r>
                    </a:p>
                  </a:txBody>
                  <a:tcPr marL="0" marR="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357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формы: ПЛАТЕЖНОЕ ПОРУЧЕНИЕ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(константа)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385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документа: 9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DocNumber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831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составления: 11.02.2025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DocDate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8453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платежа: пусто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PaymentType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73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 прописью: Шесть тысяч четыреста восемьдесят рублей 28 копеек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(дублирует цифры)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785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ИНН плательщика: 1234567891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PayerINN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17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КПП плательщика: 0 (т.е. отсутствует)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PayerKPP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777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Плательщик: ООО «Вектор»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PayerName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3837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плательщика: 40702810412300001111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PayerAccount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5993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Банк плательщика: АО «Банк», г. Красноярск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PayerBankName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295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БИК банка плательщика: 044583123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PayerBIC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6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01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0B5E5F83-1020-EBD1-44A3-698881FD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1962C14D-8EE4-B2E4-6727-AD67FD60091F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0B74F2F5-DA2F-9425-4170-4E27512FF145}"/>
              </a:ext>
            </a:extLst>
          </p:cNvPr>
          <p:cNvSpPr txBox="1"/>
          <p:nvPr/>
        </p:nvSpPr>
        <p:spPr>
          <a:xfrm>
            <a:off x="1817914" y="291513"/>
            <a:ext cx="8720829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ru-RU" sz="4000"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72C515E-DF18-3669-8A78-916D71C0C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611960"/>
              </p:ext>
            </p:extLst>
          </p:nvPr>
        </p:nvGraphicFramePr>
        <p:xfrm>
          <a:off x="1704278" y="248920"/>
          <a:ext cx="8948100" cy="6186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53">
                  <a:extLst>
                    <a:ext uri="{9D8B030D-6E8A-4147-A177-3AD203B41FA5}">
                      <a16:colId xmlns:a16="http://schemas.microsoft.com/office/drawing/2014/main" val="1440198789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2225419513"/>
                    </a:ext>
                  </a:extLst>
                </a:gridCol>
                <a:gridCol w="1236689">
                  <a:extLst>
                    <a:ext uri="{9D8B030D-6E8A-4147-A177-3AD203B41FA5}">
                      <a16:colId xmlns:a16="http://schemas.microsoft.com/office/drawing/2014/main" val="2299814723"/>
                    </a:ext>
                  </a:extLst>
                </a:gridCol>
                <a:gridCol w="2024072">
                  <a:extLst>
                    <a:ext uri="{9D8B030D-6E8A-4147-A177-3AD203B41FA5}">
                      <a16:colId xmlns:a16="http://schemas.microsoft.com/office/drawing/2014/main" val="833340576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36328162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074205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789009733"/>
                    </a:ext>
                  </a:extLst>
                </a:gridCol>
              </a:tblGrid>
              <a:tr h="53293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банка плательщика (корр.): 30101810412300000222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PayerCorrAcc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357222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ИНН получателя: 2466001885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PayeeINN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3397981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КПП получателя: 246501001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PayeeKPP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98491"/>
                  </a:ext>
                </a:extLst>
              </a:tr>
              <a:tr h="70123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Получатель: УФК по Красноярскому краю (ОСФР по Красноярскому краю, л/сч 04194Ф19010)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PayeeName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3859311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получателя: 03100643000000011900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PayeeAccount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8319787"/>
                  </a:ext>
                </a:extLst>
              </a:tr>
              <a:tr h="86953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Банк получателя: Отделение Красноярск Банка России//УФК по Красноярскому краю г. Красноярск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PayeeBankName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8453378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БИК банка получателя: 010407105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PayeeBIC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735022"/>
                  </a:ext>
                </a:extLst>
              </a:tr>
              <a:tr h="53293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банка получателя (корр.): 40102810245370000011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PayeeCorrAcc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785643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операции: 01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OperationType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177845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Очередность платежа: 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PaymentOrder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7775554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(УИН):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3837695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КБК: 79710212000061000160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KBK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5993261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ОКТМО (в платеже не заполнен, но поле есть)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OKTMO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2957282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Основание платежа: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PaymentBasis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6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11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1ACB085-15E0-628C-3513-2A14AAD2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A19D1116-F309-B5A5-6D08-F6D0C14E76ED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90DE58FE-195A-7674-3D59-84BBF87290CA}"/>
              </a:ext>
            </a:extLst>
          </p:cNvPr>
          <p:cNvSpPr txBox="1"/>
          <p:nvPr/>
        </p:nvSpPr>
        <p:spPr>
          <a:xfrm>
            <a:off x="1817914" y="291513"/>
            <a:ext cx="8720829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ru-RU" sz="4000"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00D2B6C-AF97-6C80-19DB-6DEF2DF72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05277"/>
              </p:ext>
            </p:extLst>
          </p:nvPr>
        </p:nvGraphicFramePr>
        <p:xfrm>
          <a:off x="1817914" y="1283241"/>
          <a:ext cx="8948100" cy="402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53">
                  <a:extLst>
                    <a:ext uri="{9D8B030D-6E8A-4147-A177-3AD203B41FA5}">
                      <a16:colId xmlns:a16="http://schemas.microsoft.com/office/drawing/2014/main" val="1440198789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2225419513"/>
                    </a:ext>
                  </a:extLst>
                </a:gridCol>
                <a:gridCol w="1236689">
                  <a:extLst>
                    <a:ext uri="{9D8B030D-6E8A-4147-A177-3AD203B41FA5}">
                      <a16:colId xmlns:a16="http://schemas.microsoft.com/office/drawing/2014/main" val="2299814723"/>
                    </a:ext>
                  </a:extLst>
                </a:gridCol>
                <a:gridCol w="2024072">
                  <a:extLst>
                    <a:ext uri="{9D8B030D-6E8A-4147-A177-3AD203B41FA5}">
                      <a16:colId xmlns:a16="http://schemas.microsoft.com/office/drawing/2014/main" val="833340576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36328162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074205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789009733"/>
                    </a:ext>
                  </a:extLst>
                </a:gridCol>
              </a:tblGrid>
              <a:tr h="53293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Налоговый период: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TaxPeriod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357222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документа-основания: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BaseDocNumber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3397981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документа-основания: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BaseDocDate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98491"/>
                  </a:ext>
                </a:extLst>
              </a:tr>
              <a:tr h="70123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 платежа (цифрами): 6480-28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Основание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3859311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платежа: Страховые взносы в СФР... за январь 2025 г. Регистрационный № 1234567890.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 (текстовый)</a:t>
                      </a:r>
                    </a:p>
                  </a:txBody>
                  <a:tcPr marL="0" marR="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8319787"/>
                  </a:ext>
                </a:extLst>
              </a:tr>
              <a:tr h="86953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Оформительская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Подписи (Место для подписи)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Нет*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8453378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Оформительская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Отметки банка (М.П., штамп)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Нет*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735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493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6C34E570-4694-55DF-6703-92DD9234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6D948150-5F4A-B42F-9FC3-183743995A61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11B47C9D-1EB4-1AAF-B829-79BFD09C29F6}"/>
              </a:ext>
            </a:extLst>
          </p:cNvPr>
          <p:cNvSpPr txBox="1"/>
          <p:nvPr/>
        </p:nvSpPr>
        <p:spPr>
          <a:xfrm>
            <a:off x="1086743" y="1800488"/>
            <a:ext cx="10659101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b="1" dirty="0"/>
              <a:t>Реквизиты-признаки:</a:t>
            </a:r>
            <a:r>
              <a:rPr lang="ru-RU" sz="1800" dirty="0"/>
              <a:t> Подавляющее большинство реквизитов (№№ 2–22, 24–30) являются качественными характеристиками операции. Они отвечают на вопросы "кто?", "когда?", "куда?", "за что?" и служат для идентификации платежа (ИНН, БИК, КБК, счета, назначение платежа).</a:t>
            </a:r>
            <a:endParaRPr lang="en-US" sz="1800" dirty="0"/>
          </a:p>
          <a:p>
            <a:endParaRPr lang="ru-RU" sz="1800" dirty="0"/>
          </a:p>
          <a:p>
            <a:r>
              <a:rPr lang="ru-RU" sz="1800" b="1" dirty="0"/>
              <a:t>Реквизиты-основания:</a:t>
            </a:r>
            <a:r>
              <a:rPr lang="ru-RU" sz="1800" dirty="0"/>
              <a:t> В данном документе ярко выраженным </a:t>
            </a:r>
            <a:r>
              <a:rPr lang="ru-RU" sz="1800" b="1" dirty="0"/>
              <a:t>основанием</a:t>
            </a:r>
            <a:r>
              <a:rPr lang="ru-RU" sz="1800" dirty="0"/>
              <a:t> является </a:t>
            </a:r>
            <a:r>
              <a:rPr lang="ru-RU" sz="1800" b="1" dirty="0"/>
              <a:t>«Сумма» (</a:t>
            </a:r>
            <a:r>
              <a:rPr lang="ru-RU" sz="1800" b="1" dirty="0" err="1"/>
              <a:t>Amount</a:t>
            </a:r>
            <a:r>
              <a:rPr lang="ru-RU" sz="1800" b="1" dirty="0"/>
              <a:t>)</a:t>
            </a:r>
            <a:r>
              <a:rPr lang="ru-RU" sz="1800" dirty="0"/>
              <a:t> (п. 29). Именно она представляет собой количественную величину (в рублях), над которой в дальнейшем можно выполнять арифметические операции (суммирование, группировка по сумме). В полях назначения платежа также присутствует регистрационный номер (количество цифр), но он выполняет функцию идентификатора, поэтому остается признаком.</a:t>
            </a:r>
            <a:endParaRPr lang="en-US" sz="1800" dirty="0"/>
          </a:p>
          <a:p>
            <a:endParaRPr lang="ru-RU" sz="1800" dirty="0"/>
          </a:p>
          <a:p>
            <a:r>
              <a:rPr lang="ru-RU" sz="1800" b="1" dirty="0"/>
              <a:t>Вывод:</a:t>
            </a:r>
            <a:r>
              <a:rPr lang="ru-RU" sz="1800" dirty="0"/>
              <a:t> Платежное поручение представляет собой классический пример документа с жестким форматом, содержащим один главный показатель (основание — сумма) и множество идентифицирующих признаков.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4A715656-7AD0-A60C-706B-3EB480DE9AF6}"/>
              </a:ext>
            </a:extLst>
          </p:cNvPr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Анализ выявленных реквизитов</a:t>
            </a:r>
          </a:p>
        </p:txBody>
      </p:sp>
    </p:spTree>
    <p:extLst>
      <p:ext uri="{BB962C8B-B14F-4D97-AF65-F5344CB8AC3E}">
        <p14:creationId xmlns:p14="http://schemas.microsoft.com/office/powerpoint/2010/main" val="223160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488151C1-EF1A-CE9D-0598-23E48CA9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29ED8063-A343-140D-463E-28B70C7AA3BE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CF3BA01B-D7DA-F24E-EC95-60816C9E5F99}"/>
              </a:ext>
            </a:extLst>
          </p:cNvPr>
          <p:cNvSpPr txBox="1"/>
          <p:nvPr/>
        </p:nvSpPr>
        <p:spPr>
          <a:xfrm>
            <a:off x="1086743" y="1800488"/>
            <a:ext cx="10659101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ru-RU" sz="1800" b="1" dirty="0"/>
              <a:t>Формирование документа:</a:t>
            </a:r>
            <a:r>
              <a:rPr lang="ru-RU" sz="1800" dirty="0"/>
              <a:t> Бухгалтер организации-плательщика (ООО «Вектор») формирует платежное поручение в учетной системе. Документ заполняется в строгом соответствии с Приказом Минфина России № 107н: указываются КБК (79710212000061000160), статус плательщика (08 — для взносов в СФР), ИНН, КПП, реквизиты получателя — УФК по Красноярскому краю (ОСФР по Красноярскому краю) и регистрационный номер страхователя в назначении платежа .</a:t>
            </a:r>
          </a:p>
          <a:p>
            <a:endParaRPr lang="ru-RU" sz="1800" dirty="0"/>
          </a:p>
          <a:p>
            <a:r>
              <a:rPr lang="ru-RU" sz="1800" b="1" dirty="0"/>
              <a:t>2. Подписание и отправка:</a:t>
            </a:r>
            <a:r>
              <a:rPr lang="ru-RU" sz="1800" dirty="0"/>
              <a:t> Сформированный документ подписывается электронной цифровой подписью (ЭЦП) руководителя и отправляется в банк плательщика по системе "Клиент-Банк".</a:t>
            </a:r>
          </a:p>
          <a:p>
            <a:endParaRPr lang="ru-RU" sz="1800" dirty="0"/>
          </a:p>
          <a:p>
            <a:r>
              <a:rPr lang="ru-RU" sz="1800" b="1" dirty="0"/>
              <a:t>3. Контроль в банке плательщика:</a:t>
            </a:r>
            <a:r>
              <a:rPr lang="ru-RU" sz="1800" dirty="0"/>
              <a:t> Банк проверяет правильность заполнения реквизитов и достаточность средств на расчетном счете плательщика (40702810412300001111). При успешной проверке банк списывает сумму (6480,28 руб.).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67B8F761-549E-F2A8-3CA1-06D2D013A69F}"/>
              </a:ext>
            </a:extLst>
          </p:cNvPr>
          <p:cNvSpPr txBox="1"/>
          <p:nvPr/>
        </p:nvSpPr>
        <p:spPr>
          <a:xfrm>
            <a:off x="2241842" y="633853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Описание процесса работы с документом</a:t>
            </a:r>
          </a:p>
        </p:txBody>
      </p:sp>
    </p:spTree>
    <p:extLst>
      <p:ext uri="{BB962C8B-B14F-4D97-AF65-F5344CB8AC3E}">
        <p14:creationId xmlns:p14="http://schemas.microsoft.com/office/powerpoint/2010/main" val="78987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5252BA2-878C-EA20-5779-848D589C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C35CC4A0-FBC0-96A3-B5D8-7280B7A00342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109FCC32-05A9-96F9-E02C-2B5703FB3E6C}"/>
              </a:ext>
            </a:extLst>
          </p:cNvPr>
          <p:cNvSpPr txBox="1"/>
          <p:nvPr/>
        </p:nvSpPr>
        <p:spPr>
          <a:xfrm>
            <a:off x="875425" y="2179630"/>
            <a:ext cx="10659101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b="1" dirty="0"/>
              <a:t>4. Межбанковские расчеты:</a:t>
            </a:r>
            <a:r>
              <a:rPr lang="ru-RU" sz="1800" dirty="0"/>
              <a:t> Средства переводятся через корреспондентскую сеть Банка России в банк получателя — Отделение Красноярск Банка России.</a:t>
            </a:r>
          </a:p>
          <a:p>
            <a:endParaRPr lang="ru-RU" sz="1800" dirty="0"/>
          </a:p>
          <a:p>
            <a:r>
              <a:rPr lang="ru-RU" sz="1800" b="1" dirty="0"/>
              <a:t>5. Зачисление средств:</a:t>
            </a:r>
            <a:r>
              <a:rPr lang="ru-RU" sz="1800" dirty="0"/>
              <a:t> Средства зачисляются на счет получателя — УФК по Красноярскому краю (счет 03100643000000011900). Орган Федерального казначейства доводит информацию до конкретного администратора доходов — Отделения СФР по Красноярскому краю.</a:t>
            </a:r>
          </a:p>
          <a:p>
            <a:endParaRPr lang="ru-RU" sz="1800" dirty="0"/>
          </a:p>
          <a:p>
            <a:r>
              <a:rPr lang="ru-RU" sz="1800" b="1" dirty="0"/>
              <a:t>6. Подтверждение и выписка:</a:t>
            </a:r>
            <a:r>
              <a:rPr lang="ru-RU" sz="1800" dirty="0"/>
              <a:t> Плательщик получает подтверждение об исполнении операции. В системе "Клиент-Банк" формируется выписка, отражающая списание средств.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C294E4FA-60F1-6685-0C29-B5F56E6221CE}"/>
              </a:ext>
            </a:extLst>
          </p:cNvPr>
          <p:cNvSpPr txBox="1"/>
          <p:nvPr/>
        </p:nvSpPr>
        <p:spPr>
          <a:xfrm>
            <a:off x="2241842" y="633853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Описание процесса работы с документом</a:t>
            </a:r>
          </a:p>
        </p:txBody>
      </p:sp>
    </p:spTree>
    <p:extLst>
      <p:ext uri="{BB962C8B-B14F-4D97-AF65-F5344CB8AC3E}">
        <p14:creationId xmlns:p14="http://schemas.microsoft.com/office/powerpoint/2010/main" val="1258993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E60ECE8-BB05-52BF-D458-5D43C972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B4029AC7-8676-9F19-1C00-2E26F60A9570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31D9613E-FACE-B733-BFE3-AB0713880220}"/>
              </a:ext>
            </a:extLst>
          </p:cNvPr>
          <p:cNvSpPr txBox="1"/>
          <p:nvPr/>
        </p:nvSpPr>
        <p:spPr>
          <a:xfrm>
            <a:off x="875425" y="2179630"/>
            <a:ext cx="10659101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b="1" dirty="0"/>
              <a:t>ЭЛКОД.</a:t>
            </a:r>
            <a:r>
              <a:rPr lang="ru-RU" sz="2000" dirty="0"/>
              <a:t> Компания получила требования на уплату страховых взносов из СФР и налоговой инспекции. [Электронный ресурс]. — Режим доступа: </a:t>
            </a:r>
            <a:r>
              <a:rPr lang="ru-RU" sz="2000" dirty="0">
                <a:hlinkClick r:id="rId3"/>
              </a:rPr>
              <a:t>https://elcode.ru/service/news/populyarnie-voprosy-otvety/kompaniya-poluchila-trebovaniya-na-uplatu-strahovy</a:t>
            </a:r>
            <a:r>
              <a:rPr lang="ru-RU" sz="2000" dirty="0"/>
              <a:t> (дата обращения: 26.02.2026) </a:t>
            </a:r>
          </a:p>
          <a:p>
            <a:endParaRPr lang="ru-RU" sz="2000" dirty="0"/>
          </a:p>
          <a:p>
            <a:r>
              <a:rPr lang="ru-RU" sz="2000" dirty="0"/>
              <a:t>Приказ Минфина России от 12.11.2013 № 107н "Об утверждении Правил указания информации в реквизитах распоряжений о переводе денежных средств..." // СПС "КонсультантПлюс".</a:t>
            </a:r>
          </a:p>
          <a:p>
            <a:endParaRPr lang="ru-RU" sz="2000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E7C7F80A-C142-535B-A2C1-7FEDC54BFBE4}"/>
              </a:ext>
            </a:extLst>
          </p:cNvPr>
          <p:cNvSpPr txBox="1"/>
          <p:nvPr/>
        </p:nvSpPr>
        <p:spPr>
          <a:xfrm>
            <a:off x="2219540" y="40293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Ссылки на источники</a:t>
            </a:r>
          </a:p>
        </p:txBody>
      </p:sp>
    </p:spTree>
    <p:extLst>
      <p:ext uri="{BB962C8B-B14F-4D97-AF65-F5344CB8AC3E}">
        <p14:creationId xmlns:p14="http://schemas.microsoft.com/office/powerpoint/2010/main" val="3902244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693186B0-BC52-ABE0-0248-C51CAD28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A72A0F7C-6D67-466C-A18F-A92EE19527E1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3E90BFD4-FD4F-89B9-AA7F-88A540B44992}"/>
              </a:ext>
            </a:extLst>
          </p:cNvPr>
          <p:cNvSpPr txBox="1"/>
          <p:nvPr/>
        </p:nvSpPr>
        <p:spPr>
          <a:xfrm>
            <a:off x="986937" y="1867396"/>
            <a:ext cx="10659101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b="1" dirty="0"/>
              <a:t>BPMN 2.0 (Business Process Model </a:t>
            </a:r>
            <a:r>
              <a:rPr lang="ru-RU" sz="2000" b="1" dirty="0" err="1"/>
              <a:t>and</a:t>
            </a:r>
            <a:r>
              <a:rPr lang="ru-RU" sz="2000" b="1" dirty="0"/>
              <a:t> </a:t>
            </a:r>
            <a:r>
              <a:rPr lang="ru-RU" sz="2000" b="1" dirty="0" err="1"/>
              <a:t>Notation</a:t>
            </a:r>
            <a:r>
              <a:rPr lang="ru-RU" sz="2000" b="1" dirty="0"/>
              <a:t>)</a:t>
            </a:r>
            <a:r>
              <a:rPr lang="ru-RU" sz="2000" dirty="0"/>
              <a:t> — это международный стандарт моделирования бизнес-процессов, разработанный для создания понятных диаграмм, описывающих последовательность выполнения задач и взаимодействие между участниками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A220D873-4A73-570F-720E-1AF00AEF3E7B}"/>
              </a:ext>
            </a:extLst>
          </p:cNvPr>
          <p:cNvSpPr txBox="1"/>
          <p:nvPr/>
        </p:nvSpPr>
        <p:spPr>
          <a:xfrm>
            <a:off x="2219540" y="40293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Нотация BPMN 2.0 и построение диаграммы процесса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29860F8-47FB-1590-31A0-87E82C59E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376" y="3283138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787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6B0D876-B8DB-6D0C-6C7B-D01E946D3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5FBC622-675D-0E2D-042E-F650E274A961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448827F6-1DE5-82B9-B579-207E0DBECAAB}"/>
              </a:ext>
            </a:extLst>
          </p:cNvPr>
          <p:cNvSpPr txBox="1"/>
          <p:nvPr/>
        </p:nvSpPr>
        <p:spPr>
          <a:xfrm>
            <a:off x="1166425" y="1566314"/>
            <a:ext cx="10659101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b="1" dirty="0"/>
              <a:t>Универсальность языка:</a:t>
            </a:r>
            <a:r>
              <a:rPr lang="ru-RU" sz="2000" dirty="0"/>
              <a:t> Нотация служит "мостом" между бизнес-аналитиками, проектирующими процессы, разработчиками, которые их автоматизируют, и руководителями, контролирующими исполнение .</a:t>
            </a:r>
          </a:p>
          <a:p>
            <a:r>
              <a:rPr lang="ru-RU" sz="2000" b="1" dirty="0"/>
              <a:t>Пять основных категорий элементов:</a:t>
            </a:r>
            <a:endParaRPr lang="ru-RU" sz="2000" dirty="0"/>
          </a:p>
          <a:p>
            <a:pPr lvl="1"/>
            <a:r>
              <a:rPr lang="ru-RU" sz="2000" b="1" dirty="0"/>
              <a:t>Элементы потока (</a:t>
            </a:r>
            <a:r>
              <a:rPr lang="ru-RU" sz="2000" b="1" dirty="0" err="1"/>
              <a:t>Flow</a:t>
            </a:r>
            <a:r>
              <a:rPr lang="ru-RU" sz="2000" b="1" dirty="0"/>
              <a:t> </a:t>
            </a:r>
            <a:r>
              <a:rPr lang="ru-RU" sz="2000" b="1" dirty="0" err="1"/>
              <a:t>Objects</a:t>
            </a:r>
            <a:r>
              <a:rPr lang="ru-RU" sz="2000" b="1" dirty="0"/>
              <a:t>):</a:t>
            </a:r>
            <a:r>
              <a:rPr lang="ru-RU" sz="2000" dirty="0"/>
              <a:t> События (круги — старт, промежуточные, конец), действия (прямоугольники со скругленными углами — задачи, подпроцессы) и шлюзы (ромбы — для ветвления логики) .</a:t>
            </a:r>
          </a:p>
          <a:p>
            <a:pPr lvl="1"/>
            <a:r>
              <a:rPr lang="ru-RU" sz="2000" b="1" dirty="0"/>
              <a:t>Соединяющие элементы (</a:t>
            </a:r>
            <a:r>
              <a:rPr lang="ru-RU" sz="2000" b="1" dirty="0" err="1"/>
              <a:t>Connecting</a:t>
            </a:r>
            <a:r>
              <a:rPr lang="ru-RU" sz="2000" b="1" dirty="0"/>
              <a:t> </a:t>
            </a:r>
            <a:r>
              <a:rPr lang="ru-RU" sz="2000" b="1" dirty="0" err="1"/>
              <a:t>Objects</a:t>
            </a:r>
            <a:r>
              <a:rPr lang="ru-RU" sz="2000" b="1" dirty="0"/>
              <a:t>):</a:t>
            </a:r>
            <a:r>
              <a:rPr lang="ru-RU" sz="2000" dirty="0"/>
              <a:t> Потоки операций (сплошная линия), потоки сообщений (пунктирная линия) и ассоциации (пунктирная линия с точкой) .</a:t>
            </a:r>
          </a:p>
          <a:p>
            <a:pPr lvl="1"/>
            <a:r>
              <a:rPr lang="ru-RU" sz="2000" b="1" dirty="0"/>
              <a:t>Зоны ответственности (</a:t>
            </a:r>
            <a:r>
              <a:rPr lang="ru-RU" sz="2000" b="1" dirty="0" err="1"/>
              <a:t>Swimlanes</a:t>
            </a:r>
            <a:r>
              <a:rPr lang="ru-RU" sz="2000" b="1" dirty="0"/>
              <a:t>):</a:t>
            </a:r>
            <a:r>
              <a:rPr lang="ru-RU" sz="2000" dirty="0"/>
              <a:t> Пулы (</a:t>
            </a:r>
            <a:r>
              <a:rPr lang="ru-RU" sz="2000" dirty="0" err="1"/>
              <a:t>Pools</a:t>
            </a:r>
            <a:r>
              <a:rPr lang="ru-RU" sz="2000" dirty="0"/>
              <a:t>) — крупные участники процесса, и дорожки (</a:t>
            </a:r>
            <a:r>
              <a:rPr lang="ru-RU" sz="2000" dirty="0" err="1"/>
              <a:t>Lanes</a:t>
            </a:r>
            <a:r>
              <a:rPr lang="ru-RU" sz="2000" dirty="0"/>
              <a:t>) — отделы или роли внутри пула.</a:t>
            </a:r>
          </a:p>
          <a:p>
            <a:pPr lvl="1"/>
            <a:r>
              <a:rPr lang="ru-RU" sz="2000" b="1" dirty="0"/>
              <a:t>Данные (Data):</a:t>
            </a:r>
            <a:r>
              <a:rPr lang="ru-RU" sz="2000" dirty="0"/>
              <a:t> Объекты данных, показывающие, какую информацию используют или создают задачи.</a:t>
            </a:r>
          </a:p>
          <a:p>
            <a:pPr lvl="1"/>
            <a:r>
              <a:rPr lang="ru-RU" sz="2000" b="1" dirty="0"/>
              <a:t>Артефакты (</a:t>
            </a:r>
            <a:r>
              <a:rPr lang="ru-RU" sz="2000" b="1" dirty="0" err="1"/>
              <a:t>Artifacts</a:t>
            </a:r>
            <a:r>
              <a:rPr lang="ru-RU" sz="2000" b="1" dirty="0"/>
              <a:t>):</a:t>
            </a:r>
            <a:r>
              <a:rPr lang="ru-RU" sz="2000" dirty="0"/>
              <a:t> Текстовые аннотации для пояснений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3851B8BF-0975-23C0-B99E-EB6E97B72E1F}"/>
              </a:ext>
            </a:extLst>
          </p:cNvPr>
          <p:cNvSpPr txBox="1"/>
          <p:nvPr/>
        </p:nvSpPr>
        <p:spPr>
          <a:xfrm>
            <a:off x="2219540" y="40293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Основные особенности BPMN 2.0</a:t>
            </a:r>
          </a:p>
        </p:txBody>
      </p:sp>
    </p:spTree>
    <p:extLst>
      <p:ext uri="{BB962C8B-B14F-4D97-AF65-F5344CB8AC3E}">
        <p14:creationId xmlns:p14="http://schemas.microsoft.com/office/powerpoint/2010/main" val="3655727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818FB90-E546-D63E-C10D-DE400A0C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0528975A-A9F1-B101-5F72-6857ACFC8F42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7D44F456-2B58-C4C7-C423-43355E4B4F3E}"/>
              </a:ext>
            </a:extLst>
          </p:cNvPr>
          <p:cNvSpPr txBox="1"/>
          <p:nvPr/>
        </p:nvSpPr>
        <p:spPr>
          <a:xfrm>
            <a:off x="1166425" y="1566314"/>
            <a:ext cx="10659101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dirty="0"/>
              <a:t>Для построения диаграммы был выбран веб-редактор </a:t>
            </a:r>
            <a:r>
              <a:rPr lang="ru-RU" sz="2000" b="1" dirty="0"/>
              <a:t>bpmn.io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r>
              <a:rPr lang="ru-RU" sz="2000" dirty="0"/>
              <a:t>Причины выбора:</a:t>
            </a:r>
          </a:p>
          <a:p>
            <a:r>
              <a:rPr lang="ru-RU" sz="2000" dirty="0"/>
              <a:t>	-не требует установки (работает в браузере);</a:t>
            </a:r>
          </a:p>
          <a:p>
            <a:r>
              <a:rPr lang="ru-RU" sz="2000" dirty="0"/>
              <a:t>	-поддерживает стандарт BPMN 2.0;</a:t>
            </a:r>
          </a:p>
          <a:p>
            <a:r>
              <a:rPr lang="ru-RU" sz="2000" dirty="0"/>
              <a:t>	-имеет интуитивный интерфейс </a:t>
            </a:r>
            <a:r>
              <a:rPr lang="ru-RU" sz="2000" dirty="0" err="1"/>
              <a:t>drag-and-drop</a:t>
            </a:r>
            <a:r>
              <a:rPr lang="ru-RU" sz="2000" dirty="0"/>
              <a:t>;</a:t>
            </a:r>
          </a:p>
          <a:p>
            <a:r>
              <a:rPr lang="ru-RU" sz="2000" dirty="0"/>
              <a:t>	-позволяет экспортировать диаграммы в форматах .</a:t>
            </a:r>
            <a:r>
              <a:rPr lang="ru-RU" sz="2000" dirty="0" err="1"/>
              <a:t>bpmn</a:t>
            </a:r>
            <a:r>
              <a:rPr lang="ru-RU" sz="2000" dirty="0"/>
              <a:t>, .</a:t>
            </a:r>
            <a:r>
              <a:rPr lang="ru-RU" sz="2000" dirty="0" err="1"/>
              <a:t>svg</a:t>
            </a:r>
            <a:r>
              <a:rPr lang="ru-RU" sz="2000" dirty="0"/>
              <a:t> и .</a:t>
            </a:r>
            <a:r>
              <a:rPr lang="ru-RU" sz="2000" dirty="0" err="1"/>
              <a:t>png</a:t>
            </a:r>
            <a:r>
              <a:rPr lang="ru-RU" sz="2000" dirty="0"/>
              <a:t>;</a:t>
            </a:r>
          </a:p>
          <a:p>
            <a:r>
              <a:rPr lang="ru-RU" sz="2000" dirty="0"/>
              <a:t>	-подходит для учебного и практического моделирования.</a:t>
            </a:r>
          </a:p>
          <a:p>
            <a:endParaRPr lang="ru-RU" sz="2000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8454B358-B5B4-518F-E0C1-4E3BF1E4C381}"/>
              </a:ext>
            </a:extLst>
          </p:cNvPr>
          <p:cNvSpPr txBox="1"/>
          <p:nvPr/>
        </p:nvSpPr>
        <p:spPr>
          <a:xfrm>
            <a:off x="2219540" y="40293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Выбор инструмента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547176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9B61691-1880-8C76-4C4C-E9F4F9FD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4F2A4FC6-8636-8E86-DA6A-7C59280BF8AC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D148A338-3E2B-C145-1850-FB43CFAC7BE4}"/>
              </a:ext>
            </a:extLst>
          </p:cNvPr>
          <p:cNvSpPr txBox="1"/>
          <p:nvPr/>
        </p:nvSpPr>
        <p:spPr>
          <a:xfrm>
            <a:off x="1166425" y="1566314"/>
            <a:ext cx="10659101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dirty="0"/>
              <a:t>Рассматривается процесс перевода денежных средств от организации-плательщика в адрес получателя через банковскую систему.</a:t>
            </a:r>
          </a:p>
          <a:p>
            <a:r>
              <a:rPr lang="ru-RU" sz="2000" dirty="0"/>
              <a:t>В процессе участвуют две стороны:</a:t>
            </a:r>
          </a:p>
          <a:p>
            <a:r>
              <a:rPr lang="ru-RU" sz="2000" dirty="0"/>
              <a:t>-Организация-плательщик</a:t>
            </a:r>
          </a:p>
          <a:p>
            <a:r>
              <a:rPr lang="ru-RU" sz="2000" dirty="0"/>
              <a:t>-Банковская система</a:t>
            </a:r>
          </a:p>
          <a:p>
            <a:r>
              <a:rPr lang="ru-RU" sz="2000" dirty="0"/>
              <a:t>Обмен данными между ними осуществляется посредством электронных сообщений.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3466DEDB-572B-7835-DD4C-7D1EB3A3C8C6}"/>
              </a:ext>
            </a:extLst>
          </p:cNvPr>
          <p:cNvSpPr txBox="1"/>
          <p:nvPr/>
        </p:nvSpPr>
        <p:spPr>
          <a:xfrm>
            <a:off x="2219540" y="40293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Описание моделируемого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3565804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2E01858-BD0F-167D-383F-D89CFBF7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04C187FA-6106-B482-9187-CC00248747A0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274F3D27-D4EB-B7DE-C48A-DCE9CB2115EA}"/>
              </a:ext>
            </a:extLst>
          </p:cNvPr>
          <p:cNvSpPr txBox="1"/>
          <p:nvPr/>
        </p:nvSpPr>
        <p:spPr>
          <a:xfrm>
            <a:off x="1166425" y="1566314"/>
            <a:ext cx="10659101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dirty="0"/>
              <a:t>Рассматривается процесс перевода денежных средств от организации-плательщика в адрес получателя через банковскую систему.</a:t>
            </a:r>
          </a:p>
          <a:p>
            <a:r>
              <a:rPr lang="ru-RU" sz="2000" dirty="0"/>
              <a:t>В процессе участвуют две стороны:</a:t>
            </a:r>
          </a:p>
          <a:p>
            <a:r>
              <a:rPr lang="ru-RU" sz="2000" dirty="0"/>
              <a:t>-Организация-плательщик</a:t>
            </a:r>
          </a:p>
          <a:p>
            <a:r>
              <a:rPr lang="ru-RU" sz="2000" dirty="0"/>
              <a:t>-Банковская система</a:t>
            </a:r>
          </a:p>
          <a:p>
            <a:r>
              <a:rPr lang="ru-RU" sz="2000" dirty="0"/>
              <a:t>Обмен данными между ними осуществляется посредством электронных сообщений.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4367ABFB-E94E-DC28-9DFC-659AAD4ED378}"/>
              </a:ext>
            </a:extLst>
          </p:cNvPr>
          <p:cNvSpPr txBox="1"/>
          <p:nvPr/>
        </p:nvSpPr>
        <p:spPr>
          <a:xfrm>
            <a:off x="2219540" y="40293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Описание моделируемого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821597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1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</a:pPr>
            <a:r>
              <a:rPr lang="en-US" sz="69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dirty="0"/>
          </a:p>
        </p:txBody>
      </p:sp>
      <p:sp>
        <p:nvSpPr>
          <p:cNvPr id="942" name="Google Shape;942;p112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lang="ru-RU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/>
          </a:p>
        </p:txBody>
      </p:sp>
      <p:sp>
        <p:nvSpPr>
          <p:cNvPr id="943" name="Google Shape;943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12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202</a:t>
            </a:r>
            <a:r>
              <a:rPr lang="ru-RU" sz="1800" dirty="0">
                <a:solidFill>
                  <a:schemeClr val="lt1"/>
                </a:solidFill>
              </a:rPr>
              <a:t>6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1473</Words>
  <Application>Microsoft Office PowerPoint</Application>
  <PresentationFormat>Произвольный</PresentationFormat>
  <Paragraphs>325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Times New Roman</vt:lpstr>
      <vt:lpstr>Arial</vt:lpstr>
      <vt:lpstr>Calibri</vt:lpstr>
      <vt:lpstr>Helvetica Neue</vt:lpstr>
      <vt:lpstr>Тема Office</vt:lpstr>
      <vt:lpstr>Лабораторная работа №2</vt:lpstr>
      <vt:lpstr>Используемое ПО</vt:lpstr>
      <vt:lpstr>Цель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Arti</dc:creator>
  <cp:lastModifiedBy>Arti</cp:lastModifiedBy>
  <cp:revision>11</cp:revision>
  <dcterms:modified xsi:type="dcterms:W3CDTF">2026-02-26T03:21:24Z</dcterms:modified>
</cp:coreProperties>
</file>