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334" r:id="rId6"/>
    <p:sldId id="335" r:id="rId7"/>
    <p:sldId id="342" r:id="rId8"/>
    <p:sldId id="343" r:id="rId9"/>
    <p:sldId id="333" r:id="rId10"/>
  </p:sldIdLst>
  <p:sldSz cx="12954000" cy="6832600"/>
  <p:notesSz cx="6858000" cy="9144000"/>
  <p:embeddedFontLst>
    <p:embeddedFont>
      <p:font typeface="Helvetica Neue" panose="020B060402020202020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2">
          <p15:clr>
            <a:srgbClr val="A4A3A4"/>
          </p15:clr>
        </p15:guide>
        <p15:guide id="2" pos="40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6" y="504"/>
      </p:cViewPr>
      <p:guideLst>
        <p:guide orient="horz" pos="2152"/>
        <p:guide pos="40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3741d0dff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3741d0dffc_0_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3741d0dff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3741d0dffc_0_1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986F224B-BE72-65AE-F2F4-6999ECAD3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93B60FEA-B766-B970-38A7-6DFC7FE0F4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E8BF97C1-C784-1C96-6B2F-C488142ABC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55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17929EEB-7CE0-6433-30C8-16E0C8B35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C8E1FF49-EEF7-474C-ADAC-96F09BF70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5C3FE695-8D0C-B129-2D6B-F509A8FBD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13165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D24FF6DA-683B-01FA-0DA1-17C56AB21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69C382BD-DA5B-8B39-5508-31ADD1E14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5F5FAC8D-3E62-6428-5006-6B8F444C6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3160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>
          <a:extLst>
            <a:ext uri="{FF2B5EF4-FFF2-40B4-BE49-F238E27FC236}">
              <a16:creationId xmlns:a16="http://schemas.microsoft.com/office/drawing/2014/main" id="{624283D9-02CA-23E8-04A3-75C4ABB5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3741d0dffc_0_27:notes">
            <a:extLst>
              <a:ext uri="{FF2B5EF4-FFF2-40B4-BE49-F238E27FC236}">
                <a16:creationId xmlns:a16="http://schemas.microsoft.com/office/drawing/2014/main" id="{77FC03AA-1274-6DA9-E749-F15A14BCE9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3741d0dffc_0_27:notes">
            <a:extLst>
              <a:ext uri="{FF2B5EF4-FFF2-40B4-BE49-F238E27FC236}">
                <a16:creationId xmlns:a16="http://schemas.microsoft.com/office/drawing/2014/main" id="{FD9FAC77-4477-BCA2-E804-574EBE4F17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55626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9388" y="685800"/>
            <a:ext cx="6499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Титульный слайд" type="tx">
  <p:cSld name="TITLE_AND_BODY">
    <p:bg>
      <p:bgPr>
        <a:solidFill>
          <a:schemeClr val="accen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916863" y="3971147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" name="Google Shape;17;p2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2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/>
          </a:p>
        </p:txBody>
      </p:sp>
      <p:cxnSp>
        <p:nvCxnSpPr>
          <p:cNvPr id="20" name="Google Shape;20;p2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1" name="Google Shape;21;p2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Рисунок с подписью">
  <p:cSld name="Рисунок с подписью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3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3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27" name="Google Shape;27;p3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900000" y="900000"/>
            <a:ext cx="9627700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772664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30" name="Google Shape;30;p3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Пустой слайд">
  <p:cSld name="1_Пустой слайд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5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5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38" name="Google Shape;38;p5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>
  <p:cSld name="Титульный слайд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6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6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6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44" name="Google Shape;44;p6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1620044" y="1119505"/>
            <a:ext cx="9720264" cy="2381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1620044" y="3592865"/>
            <a:ext cx="9720264" cy="1651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Титульный слайд">
  <p:cSld name="1_Титульный слайд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7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7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7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52" name="Google Shape;52;p7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900000" y="919196"/>
            <a:ext cx="8649708" cy="53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body" idx="1"/>
          </p:nvPr>
        </p:nvSpPr>
        <p:spPr>
          <a:xfrm>
            <a:off x="4981302" y="2751908"/>
            <a:ext cx="6696893" cy="2492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1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body" idx="2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Титульный слайд">
  <p:cSld name="2_Титульный слайд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/>
          <p:nvPr/>
        </p:nvSpPr>
        <p:spPr>
          <a:xfrm>
            <a:off x="0" y="0"/>
            <a:ext cx="12960350" cy="6840538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770127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1"/>
          </p:nvPr>
        </p:nvSpPr>
        <p:spPr>
          <a:xfrm>
            <a:off x="3300546" y="2269023"/>
            <a:ext cx="6871064" cy="2492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  <a:defRPr sz="3600" b="1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8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E003E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BE003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2" name="Google Shape;62;p8" descr="Picture 16"/>
          <p:cNvPicPr preferRelativeResize="0"/>
          <p:nvPr/>
        </p:nvPicPr>
        <p:blipFill rotWithShape="1">
          <a:blip r:embed="rId2">
            <a:alphaModFix/>
          </a:blip>
          <a:srcRect t="4828"/>
          <a:stretch/>
        </p:blipFill>
        <p:spPr>
          <a:xfrm>
            <a:off x="10684389" y="-1"/>
            <a:ext cx="1950722" cy="97615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8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/>
          </a:p>
        </p:txBody>
      </p:sp>
      <p:cxnSp>
        <p:nvCxnSpPr>
          <p:cNvPr id="64" name="Google Shape;64;p8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 и объект">
  <p:cSld name="Заголовок и объект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9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9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69" name="Google Shape;69;p9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0" name="Google Shape;70;p9"/>
          <p:cNvSpPr txBox="1">
            <a:spLocks noGrp="1"/>
          </p:cNvSpPr>
          <p:nvPr>
            <p:ph type="title"/>
          </p:nvPr>
        </p:nvSpPr>
        <p:spPr>
          <a:xfrm>
            <a:off x="900000" y="900000"/>
            <a:ext cx="9576680" cy="71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body" idx="1"/>
          </p:nvPr>
        </p:nvSpPr>
        <p:spPr>
          <a:xfrm>
            <a:off x="891024" y="1820976"/>
            <a:ext cx="11205727" cy="4340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Рисунок с подписью">
  <p:cSld name="1_Рисунок с подписью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0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0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0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77" name="Google Shape;77;p10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" name="Google Shape;78;p10"/>
          <p:cNvSpPr txBox="1">
            <a:spLocks noGrp="1"/>
          </p:cNvSpPr>
          <p:nvPr>
            <p:ph type="title"/>
          </p:nvPr>
        </p:nvSpPr>
        <p:spPr>
          <a:xfrm>
            <a:off x="900000" y="863999"/>
            <a:ext cx="9627700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3638349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10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10"/>
          <p:cNvSpPr>
            <a:spLocks noGrp="1"/>
          </p:cNvSpPr>
          <p:nvPr>
            <p:ph type="pic" idx="3"/>
          </p:nvPr>
        </p:nvSpPr>
        <p:spPr>
          <a:xfrm>
            <a:off x="8383605" y="1674796"/>
            <a:ext cx="3638349" cy="425436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_Рисунок с подписью">
  <p:cSld name="2_Рисунок с подписью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1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1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87" name="Google Shape;87;p11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892712" y="900000"/>
            <a:ext cx="9627701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11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1"/>
          <p:cNvSpPr>
            <a:spLocks noGrp="1"/>
          </p:cNvSpPr>
          <p:nvPr>
            <p:ph type="pic" idx="3"/>
          </p:nvPr>
        </p:nvSpPr>
        <p:spPr>
          <a:xfrm>
            <a:off x="7019108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  <p:sp>
        <p:nvSpPr>
          <p:cNvPr id="93" name="Google Shape;93;p11"/>
          <p:cNvSpPr>
            <a:spLocks noGrp="1"/>
          </p:cNvSpPr>
          <p:nvPr>
            <p:ph type="pic" idx="4"/>
          </p:nvPr>
        </p:nvSpPr>
        <p:spPr>
          <a:xfrm>
            <a:off x="9701348" y="1674796"/>
            <a:ext cx="2321063" cy="4254366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Рисунок с подписью">
  <p:cSld name="3_Рисунок с подписью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2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2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2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98" name="Google Shape;98;p12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99" name="Google Shape;99;p12"/>
          <p:cNvSpPr txBox="1">
            <a:spLocks noGrp="1"/>
          </p:cNvSpPr>
          <p:nvPr>
            <p:ph type="title"/>
          </p:nvPr>
        </p:nvSpPr>
        <p:spPr>
          <a:xfrm>
            <a:off x="892712" y="900000"/>
            <a:ext cx="9627701" cy="740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00"/>
              <a:buFont typeface="Arial"/>
              <a:buNone/>
              <a:defRPr sz="31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2"/>
          <p:cNvSpPr>
            <a:spLocks noGrp="1"/>
          </p:cNvSpPr>
          <p:nvPr>
            <p:ph type="pic" idx="2"/>
          </p:nvPr>
        </p:nvSpPr>
        <p:spPr>
          <a:xfrm>
            <a:off x="4340995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 txBox="1">
            <a:spLocks noGrp="1"/>
          </p:cNvSpPr>
          <p:nvPr>
            <p:ph type="body" idx="1"/>
          </p:nvPr>
        </p:nvSpPr>
        <p:spPr>
          <a:xfrm>
            <a:off x="900112" y="1625000"/>
            <a:ext cx="2916080" cy="4304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/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12"/>
          <p:cNvSpPr>
            <a:spLocks noGrp="1"/>
          </p:cNvSpPr>
          <p:nvPr>
            <p:ph type="pic" idx="3"/>
          </p:nvPr>
        </p:nvSpPr>
        <p:spPr>
          <a:xfrm>
            <a:off x="7019108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>
            <a:spLocks noGrp="1"/>
          </p:cNvSpPr>
          <p:nvPr>
            <p:ph type="pic" idx="4"/>
          </p:nvPr>
        </p:nvSpPr>
        <p:spPr>
          <a:xfrm>
            <a:off x="9701348" y="1674796"/>
            <a:ext cx="2321063" cy="1956679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12"/>
          <p:cNvSpPr>
            <a:spLocks noGrp="1"/>
          </p:cNvSpPr>
          <p:nvPr>
            <p:ph type="pic" idx="5"/>
          </p:nvPr>
        </p:nvSpPr>
        <p:spPr>
          <a:xfrm>
            <a:off x="4340995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6"/>
          </p:nvPr>
        </p:nvSpPr>
        <p:spPr>
          <a:xfrm>
            <a:off x="7019108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2"/>
          <p:cNvSpPr>
            <a:spLocks noGrp="1"/>
          </p:cNvSpPr>
          <p:nvPr>
            <p:ph type="pic" idx="7"/>
          </p:nvPr>
        </p:nvSpPr>
        <p:spPr>
          <a:xfrm>
            <a:off x="9701348" y="4130612"/>
            <a:ext cx="2321063" cy="195668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 раздела">
  <p:cSld name="Заголовок раздела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3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3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12" name="Google Shape;112;p13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3" name="Google Shape;113;p13"/>
          <p:cNvSpPr txBox="1">
            <a:spLocks noGrp="1"/>
          </p:cNvSpPr>
          <p:nvPr>
            <p:ph type="title"/>
          </p:nvPr>
        </p:nvSpPr>
        <p:spPr>
          <a:xfrm>
            <a:off x="884274" y="1705385"/>
            <a:ext cx="11178303" cy="28454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900"/>
              <a:buFont typeface="Arial"/>
              <a:buNone/>
              <a:defRPr sz="59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body" idx="1"/>
          </p:nvPr>
        </p:nvSpPr>
        <p:spPr>
          <a:xfrm>
            <a:off x="884274" y="4577777"/>
            <a:ext cx="11178303" cy="1496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888888"/>
              </a:buClr>
              <a:buSzPts val="2300"/>
              <a:buFont typeface="Arial"/>
              <a:buNone/>
              <a:defRPr sz="2300"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олько заголовок">
  <p:cSld name="Только заголовок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4" descr="Рисунок 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4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20" name="Google Shape;120;p14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1" name="Google Shape;121;p14"/>
          <p:cNvSpPr txBox="1">
            <a:spLocks noGrp="1"/>
          </p:cNvSpPr>
          <p:nvPr>
            <p:ph type="title"/>
          </p:nvPr>
        </p:nvSpPr>
        <p:spPr>
          <a:xfrm>
            <a:off x="891024" y="900000"/>
            <a:ext cx="9576680" cy="714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4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_Титульный слайд">
  <p:cSld name="7_Титульный слайд">
    <p:bg>
      <p:bgPr>
        <a:solidFill>
          <a:srgbClr val="808080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 txBox="1">
            <a:spLocks noGrp="1"/>
          </p:cNvSpPr>
          <p:nvPr>
            <p:ph type="title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26" name="Google Shape;126;p15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29" name="Google Shape;129;p15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0" name="Google Shape;130;p15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131" name="Google Shape;131;p15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8_Титульный слайд">
  <p:cSld name="8_Титульный слайд">
    <p:bg>
      <p:bgPr>
        <a:solidFill>
          <a:srgbClr val="A6A6A6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 txBox="1">
            <a:spLocks noGrp="1"/>
          </p:cNvSpPr>
          <p:nvPr>
            <p:ph type="title"/>
          </p:nvPr>
        </p:nvSpPr>
        <p:spPr>
          <a:xfrm>
            <a:off x="916863" y="1616636"/>
            <a:ext cx="10423444" cy="2200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  <a:defRPr sz="69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16"/>
          <p:cNvSpPr txBox="1">
            <a:spLocks noGrp="1"/>
          </p:cNvSpPr>
          <p:nvPr>
            <p:ph type="body" idx="1"/>
          </p:nvPr>
        </p:nvSpPr>
        <p:spPr>
          <a:xfrm>
            <a:off x="916863" y="3971149"/>
            <a:ext cx="10423444" cy="81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  <a:defRPr sz="2300">
                <a:solidFill>
                  <a:srgbClr val="FFFFFF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35" name="Google Shape;135;p16" descr="Рисунок 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0519" y="0"/>
            <a:ext cx="4189831" cy="6840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Рисунок 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759" y="329337"/>
            <a:ext cx="1862897" cy="81967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 txBox="1"/>
          <p:nvPr/>
        </p:nvSpPr>
        <p:spPr>
          <a:xfrm rot="-5400000">
            <a:off x="11737005" y="954870"/>
            <a:ext cx="690615" cy="259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138" name="Google Shape;138;p16"/>
          <p:cNvCxnSpPr/>
          <p:nvPr/>
        </p:nvCxnSpPr>
        <p:spPr>
          <a:xfrm>
            <a:off x="12128268" y="1404850"/>
            <a:ext cx="1" cy="2302626"/>
          </a:xfrm>
          <a:prstGeom prst="straightConnector1">
            <a:avLst/>
          </a:prstGeom>
          <a:noFill/>
          <a:ln w="2540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9" name="Google Shape;139;p16"/>
          <p:cNvSpPr txBox="1"/>
          <p:nvPr/>
        </p:nvSpPr>
        <p:spPr>
          <a:xfrm rot="-5400000">
            <a:off x="11531872" y="5633390"/>
            <a:ext cx="1097103" cy="22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РАНХиГС</a:t>
            </a:r>
            <a:endParaRPr/>
          </a:p>
        </p:txBody>
      </p:sp>
      <p:sp>
        <p:nvSpPr>
          <p:cNvPr id="140" name="Google Shape;140;p16"/>
          <p:cNvSpPr txBox="1">
            <a:spLocks noGrp="1"/>
          </p:cNvSpPr>
          <p:nvPr>
            <p:ph type="sldNum" idx="12"/>
          </p:nvPr>
        </p:nvSpPr>
        <p:spPr>
          <a:xfrm>
            <a:off x="6261100" y="6148658"/>
            <a:ext cx="3022600" cy="368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Пустой">
  <p:cSld name="Пустой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>
            <a:spLocks noGrp="1"/>
          </p:cNvSpPr>
          <p:nvPr>
            <p:ph type="sldNum" idx="12"/>
          </p:nvPr>
        </p:nvSpPr>
        <p:spPr>
          <a:xfrm>
            <a:off x="6385741" y="6528114"/>
            <a:ext cx="176292" cy="174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300" tIns="25300" rIns="25300" bIns="25300" anchor="b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Рисунок 9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10856487" y="124476"/>
            <a:ext cx="1574790" cy="687183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/>
          <p:nvPr/>
        </p:nvSpPr>
        <p:spPr>
          <a:xfrm>
            <a:off x="-3244" y="288565"/>
            <a:ext cx="894269" cy="319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/>
          <p:nvPr/>
        </p:nvSpPr>
        <p:spPr>
          <a:xfrm>
            <a:off x="600118" y="6407915"/>
            <a:ext cx="524201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/>
          </a:p>
        </p:txBody>
      </p:sp>
      <p:cxnSp>
        <p:nvCxnSpPr>
          <p:cNvPr id="9" name="Google Shape;9;p1"/>
          <p:cNvCxnSpPr/>
          <p:nvPr/>
        </p:nvCxnSpPr>
        <p:spPr>
          <a:xfrm>
            <a:off x="1258528" y="6571636"/>
            <a:ext cx="2303435" cy="1"/>
          </a:xfrm>
          <a:prstGeom prst="straightConnector1">
            <a:avLst/>
          </a:prstGeom>
          <a:noFill/>
          <a:ln w="19050" cap="flat" cmpd="sng">
            <a:solidFill>
              <a:srgbClr val="808080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0" name="Google Shape;10;p1" descr="Рисунок 7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11902203" y="0"/>
            <a:ext cx="1058147" cy="684053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601687" y="304062"/>
            <a:ext cx="301908" cy="28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647700" y="273620"/>
            <a:ext cx="11658600" cy="1320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647700" y="1594273"/>
            <a:ext cx="11658600" cy="5238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pmn.io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>
            <a:spLocks noGrp="1"/>
          </p:cNvSpPr>
          <p:nvPr>
            <p:ph type="title"/>
          </p:nvPr>
        </p:nvSpPr>
        <p:spPr>
          <a:xfrm>
            <a:off x="827525" y="1257075"/>
            <a:ext cx="10577400" cy="30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ru-RU" dirty="0"/>
              <a:t>Лабораторная работа №2</a:t>
            </a:r>
            <a:endParaRPr lang="en-US" dirty="0"/>
          </a:p>
        </p:txBody>
      </p:sp>
      <p:sp>
        <p:nvSpPr>
          <p:cNvPr id="286" name="Google Shape;286;p35"/>
          <p:cNvSpPr txBox="1">
            <a:spLocks noGrp="1"/>
          </p:cNvSpPr>
          <p:nvPr>
            <p:ph type="body" idx="1"/>
          </p:nvPr>
        </p:nvSpPr>
        <p:spPr>
          <a:xfrm>
            <a:off x="8990091" y="5078387"/>
            <a:ext cx="2350200" cy="1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en-US" sz="1400" dirty="0"/>
              <a:t>Выполнил</a:t>
            </a:r>
            <a:r>
              <a:rPr lang="ru-RU" sz="1400" dirty="0"/>
              <a:t>и</a:t>
            </a:r>
            <a:r>
              <a:rPr lang="en-US" sz="1400" dirty="0"/>
              <a:t>: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en-US" sz="1400" dirty="0"/>
              <a:t>Лапшов Артем</a:t>
            </a:r>
            <a:r>
              <a:rPr lang="ru-RU" sz="1400" dirty="0"/>
              <a:t>,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Times New Roman"/>
              <a:buNone/>
            </a:pPr>
            <a:r>
              <a:rPr lang="ru-RU" sz="1400" dirty="0"/>
              <a:t>Павликов Максим</a:t>
            </a:r>
            <a:endParaRPr sz="1400" dirty="0"/>
          </a:p>
        </p:txBody>
      </p:sp>
      <p:sp>
        <p:nvSpPr>
          <p:cNvPr id="287" name="Google Shape;287;p35"/>
          <p:cNvSpPr txBox="1"/>
          <p:nvPr/>
        </p:nvSpPr>
        <p:spPr>
          <a:xfrm>
            <a:off x="913800" y="6125934"/>
            <a:ext cx="214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Нижний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Новгород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202</a:t>
            </a:r>
            <a:r>
              <a:rPr lang="ru-RU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88" name="Google Shape;288;p35"/>
          <p:cNvSpPr txBox="1"/>
          <p:nvPr/>
        </p:nvSpPr>
        <p:spPr>
          <a:xfrm>
            <a:off x="1223475" y="3539500"/>
            <a:ext cx="7504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b="1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9" name="Google Shape;289;p35"/>
          <p:cNvSpPr/>
          <p:nvPr/>
        </p:nvSpPr>
        <p:spPr>
          <a:xfrm rot="-5400000">
            <a:off x="11819050" y="760475"/>
            <a:ext cx="719100" cy="414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chemeClr val="lt1"/>
                </a:solidFill>
              </a:rPr>
              <a:t>202</a:t>
            </a:r>
            <a:r>
              <a:rPr lang="ru-RU" sz="1800" dirty="0">
                <a:solidFill>
                  <a:schemeClr val="lt1"/>
                </a:solidFill>
              </a:rPr>
              <a:t>6</a:t>
            </a:r>
            <a:endParaRPr sz="1800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6"/>
          <p:cNvSpPr/>
          <p:nvPr/>
        </p:nvSpPr>
        <p:spPr>
          <a:xfrm>
            <a:off x="584425" y="6387200"/>
            <a:ext cx="814800" cy="33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95" name="Google Shape;295;p36"/>
          <p:cNvSpPr txBox="1">
            <a:spLocks noGrp="1"/>
          </p:cNvSpPr>
          <p:nvPr>
            <p:ph type="title"/>
          </p:nvPr>
        </p:nvSpPr>
        <p:spPr>
          <a:xfrm>
            <a:off x="947225" y="44225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algn="ctr"/>
            <a:r>
              <a:rPr lang="ru-RU" dirty="0">
                <a:highlight>
                  <a:srgbClr val="FFFFFF"/>
                </a:highlight>
              </a:rPr>
              <a:t>Используемое ПО</a:t>
            </a:r>
          </a:p>
        </p:txBody>
      </p:sp>
      <p:sp>
        <p:nvSpPr>
          <p:cNvPr id="296" name="Google Shape;296;p36"/>
          <p:cNvSpPr txBox="1">
            <a:spLocks noGrp="1"/>
          </p:cNvSpPr>
          <p:nvPr>
            <p:ph type="body" idx="1"/>
          </p:nvPr>
        </p:nvSpPr>
        <p:spPr>
          <a:xfrm>
            <a:off x="258299" y="1706661"/>
            <a:ext cx="11369271" cy="238636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ru-RU" sz="1800" b="1" dirty="0"/>
              <a:t>Браузер:</a:t>
            </a:r>
            <a:r>
              <a:rPr lang="ru-RU" sz="1800" dirty="0"/>
              <a:t> Google </a:t>
            </a:r>
            <a:r>
              <a:rPr lang="ru-RU" sz="1800" dirty="0" err="1"/>
              <a:t>Chrome</a:t>
            </a:r>
            <a:r>
              <a:rPr lang="ru-RU" sz="1800" dirty="0"/>
              <a:t> / Yandex (для поиска документа и описаний).</a:t>
            </a:r>
          </a:p>
          <a:p>
            <a:r>
              <a:rPr lang="ru-RU" sz="1800" b="1" dirty="0"/>
              <a:t>Текстовый редактор:</a:t>
            </a:r>
            <a:r>
              <a:rPr lang="ru-RU" sz="1800" dirty="0"/>
              <a:t> Microsoft Word / Google </a:t>
            </a:r>
            <a:r>
              <a:rPr lang="ru-RU" sz="1800" dirty="0" err="1"/>
              <a:t>Docs</a:t>
            </a:r>
            <a:r>
              <a:rPr lang="ru-RU" sz="1800" dirty="0"/>
              <a:t> (для оформления отчета).</a:t>
            </a:r>
          </a:p>
          <a:p>
            <a:r>
              <a:rPr lang="ru-RU" sz="1800" b="1" dirty="0"/>
              <a:t>Инструмент BPMN-моделирования:</a:t>
            </a:r>
            <a:r>
              <a:rPr lang="ru-RU" sz="1800" dirty="0"/>
              <a:t> </a:t>
            </a:r>
            <a:r>
              <a:rPr lang="ru-RU" sz="1800" i="1" dirty="0"/>
              <a:t>Выбор одного из вариантов</a:t>
            </a:r>
            <a:r>
              <a:rPr lang="ru-RU" sz="1800" dirty="0"/>
              <a:t>:</a:t>
            </a:r>
          </a:p>
          <a:p>
            <a:pPr lvl="1"/>
            <a:r>
              <a:rPr lang="ru-RU" sz="1800" b="1" dirty="0"/>
              <a:t>Online:</a:t>
            </a:r>
            <a:r>
              <a:rPr lang="ru-RU" sz="1800" dirty="0"/>
              <a:t> </a:t>
            </a:r>
            <a:r>
              <a:rPr lang="ru-RU" sz="1800" dirty="0">
                <a:hlinkClick r:id="rId3"/>
              </a:rPr>
              <a:t>BPMN.io</a:t>
            </a:r>
            <a:r>
              <a:rPr lang="ru-RU" sz="1800" dirty="0"/>
              <a:t> (бесплатный, онлайн, не требует установки) .</a:t>
            </a:r>
          </a:p>
          <a:p>
            <a:pPr lvl="1"/>
            <a:r>
              <a:rPr lang="ru-RU" sz="1800" b="1" dirty="0"/>
              <a:t>Desktop:</a:t>
            </a:r>
            <a:r>
              <a:rPr lang="ru-RU" sz="1800" dirty="0"/>
              <a:t> </a:t>
            </a:r>
            <a:r>
              <a:rPr lang="ru-RU" sz="1800" dirty="0" err="1"/>
              <a:t>Bizagi</a:t>
            </a:r>
            <a:r>
              <a:rPr lang="ru-RU" sz="1800" dirty="0"/>
              <a:t> </a:t>
            </a:r>
            <a:r>
              <a:rPr lang="ru-RU" sz="1800" dirty="0" err="1"/>
              <a:t>Modeler</a:t>
            </a:r>
            <a:r>
              <a:rPr lang="ru-RU" sz="1800" dirty="0"/>
              <a:t> (бесплатный, поддерживает полную спецификацию BPMN 2.0) .</a:t>
            </a:r>
          </a:p>
          <a:p>
            <a:r>
              <a:rPr lang="ru-RU" sz="1800" b="1" dirty="0"/>
              <a:t>СУБД для проектирования</a:t>
            </a:r>
            <a:endParaRPr lang="ru-RU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7"/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03" name="Google Shape;303;p37"/>
          <p:cNvSpPr txBox="1">
            <a:spLocks noGrp="1"/>
          </p:cNvSpPr>
          <p:nvPr>
            <p:ph type="title"/>
          </p:nvPr>
        </p:nvSpPr>
        <p:spPr>
          <a:xfrm>
            <a:off x="869350" y="385700"/>
            <a:ext cx="9627600" cy="74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ru-RU" sz="3200" dirty="0"/>
              <a:t>Цель работы</a:t>
            </a:r>
            <a:endParaRPr lang="ru-RU" dirty="0"/>
          </a:p>
        </p:txBody>
      </p:sp>
      <p:sp>
        <p:nvSpPr>
          <p:cNvPr id="304" name="Google Shape;304;p37"/>
          <p:cNvSpPr txBox="1"/>
          <p:nvPr/>
        </p:nvSpPr>
        <p:spPr>
          <a:xfrm>
            <a:off x="584425" y="1713968"/>
            <a:ext cx="11563663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2800" dirty="0"/>
              <a:t>Получение практических навыков реквизитного анализа первичных экономических документов, изучение стандарта описания бизнес-процессов BPMN 2.0 и проектирование структуры базы данных (концептуальной, логической, физической) для хранения информации документа.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/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/>
          <p:cNvSpPr txBox="1"/>
          <p:nvPr/>
        </p:nvSpPr>
        <p:spPr>
          <a:xfrm>
            <a:off x="696999" y="1439365"/>
            <a:ext cx="10659101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dirty="0"/>
              <a:t>Для анализа был использован документ «Платежное поручение № 9 от 11.02.2025» (форма 0401060), предназначенный для уплаты страховых взносов в СФР (Социальный фонд России).</a:t>
            </a:r>
          </a:p>
          <a:p>
            <a:endParaRPr lang="ru-RU" sz="1800" dirty="0"/>
          </a:p>
          <a:p>
            <a:r>
              <a:rPr lang="ru-RU" sz="1800" dirty="0"/>
              <a:t>В соответствии с теоретическим материалом, в структуре документа выделены:</a:t>
            </a:r>
          </a:p>
          <a:p>
            <a:r>
              <a:rPr lang="ru-RU" sz="1800" b="1" dirty="0"/>
              <a:t>Общая (заголовочная) часть</a:t>
            </a:r>
            <a:r>
              <a:rPr lang="ru-RU" sz="1800" dirty="0"/>
              <a:t> — реквизиты, характеризующие документ в целом.</a:t>
            </a:r>
          </a:p>
          <a:p>
            <a:r>
              <a:rPr lang="ru-RU" sz="1800" b="1" dirty="0"/>
              <a:t>Предметная (содержательная) часть</a:t>
            </a:r>
            <a:r>
              <a:rPr lang="ru-RU" sz="1800" dirty="0"/>
              <a:t> — строки, содержащие количественную характеристику операции (сумма, КБК, ОКТМО и т.д.) и качественные признаки платежа.</a:t>
            </a:r>
          </a:p>
          <a:p>
            <a:r>
              <a:rPr lang="ru-RU" sz="1800" b="1" dirty="0"/>
              <a:t>Оформительская (</a:t>
            </a:r>
            <a:r>
              <a:rPr lang="ru-RU" sz="1800" b="1" dirty="0" err="1"/>
              <a:t>заверительная</a:t>
            </a:r>
            <a:r>
              <a:rPr lang="ru-RU" sz="1800" b="1" dirty="0"/>
              <a:t>) часть</a:t>
            </a:r>
            <a:r>
              <a:rPr lang="ru-RU" sz="1800" dirty="0"/>
              <a:t> — подписи, печати, отметки банка.</a:t>
            </a:r>
          </a:p>
          <a:p>
            <a:endParaRPr lang="ru-RU" sz="1800" dirty="0"/>
          </a:p>
        </p:txBody>
      </p:sp>
      <p:sp>
        <p:nvSpPr>
          <p:cNvPr id="312" name="Google Shape;312;p38"/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Реквизитный Анализ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FBE3129B-6552-951F-DB73-1E718D1B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DBAAAA87-DFAC-BF9E-9359-9D81425DF257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52482002-65CF-8C14-7A6E-26486F18C949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4000" b="1" dirty="0"/>
              <a:t>Таблица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B1A9218-A61B-97D0-258A-96F747D7C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805971"/>
              </p:ext>
            </p:extLst>
          </p:nvPr>
        </p:nvGraphicFramePr>
        <p:xfrm>
          <a:off x="2002950" y="1141537"/>
          <a:ext cx="8948100" cy="501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 п/п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Часть документа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части (по методичке)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 реквизита во </a:t>
                      </a:r>
                      <a:r>
                        <a:rPr lang="ru-RU" sz="12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внемаш</a:t>
                      </a: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документе (содержание из файла)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Перенос в норм. файл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Имя в норм. файле (лат.)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реквизита</a:t>
                      </a:r>
                    </a:p>
                  </a:txBody>
                  <a:tcPr marL="0" marR="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формы: ПЛАТЕЖНОЕ ПОРУЧЕНИЕ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 (константа)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документа: 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DocNumber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составления: 11.02.2025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DocDate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платежа: пусто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PaymentType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Сумма прописью: Шесть тысяч четыреста восемьдесят рублей 28 копеек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 (дублирует цифры)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785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плательщика: 1234567891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PayerINN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6177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плательщика: 0 (т.е. отсутствует)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PayerKPP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77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Плательщик: ООО «Вектор»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3837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плательщика: 40702810412300001111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PayerAccount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9932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плательщика: АО «Банк», г. Красноярск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PayerBankName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2957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22860" marR="22860" marT="15240" marB="1524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банка плательщика: 044583123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PayerBIC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6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011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0B5E5F83-1020-EBD1-44A3-698881FD0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1962C14D-8EE4-B2E4-6727-AD67FD60091F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0B74F2F5-DA2F-9425-4170-4E27512FF145}"/>
              </a:ext>
            </a:extLst>
          </p:cNvPr>
          <p:cNvSpPr txBox="1"/>
          <p:nvPr/>
        </p:nvSpPr>
        <p:spPr>
          <a:xfrm>
            <a:off x="1817914" y="291513"/>
            <a:ext cx="8720829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 lang="ru-RU" sz="40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F72C515E-DF18-3669-8A78-916D71C0C1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611960"/>
              </p:ext>
            </p:extLst>
          </p:nvPr>
        </p:nvGraphicFramePr>
        <p:xfrm>
          <a:off x="1704278" y="248920"/>
          <a:ext cx="8948100" cy="6186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банка плательщика (корр.): 30101810412300000222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PayerCorrAcc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ИНН получателя: 2466001885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PayeeINN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3397981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КПП получателя: 246501001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PayeeKPP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498491"/>
                  </a:ext>
                </a:extLst>
              </a:tr>
              <a:tr h="70123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Получатель: УФК по Красноярскому краю (ОСФР по Красноярскому краю, л/сч 04194Ф19010)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получателя: 03100643000000011900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PayeeAccount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86953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Банк получателя: Отделение Красноярск Банка России//УФК по Красноярскому краю г. Красноярск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PayeeBankName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БИК банка получателя: 010407105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PayeeBIC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Заголовок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Счет банка получателя (корр.): 40102810245370000011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PayeeCorrAcc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785643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операции: 01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OperationType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6177845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Очередность платежа: 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PaymentOrder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07775554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Код (УИН):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UIN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3837695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КБК: 79710212000061000160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KBK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599326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ОКТМО (в платеже не заполнен, но поле есть)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OKTMO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2957282"/>
                  </a:ext>
                </a:extLst>
              </a:tr>
              <a:tr h="341267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 платежа: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PaymentBasis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6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611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21ACB085-15E0-628C-3513-2A14AAD22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A19D1116-F309-B5A5-6D08-F6D0C14E76ED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90DE58FE-195A-7674-3D59-84BBF87290CA}"/>
              </a:ext>
            </a:extLst>
          </p:cNvPr>
          <p:cNvSpPr txBox="1"/>
          <p:nvPr/>
        </p:nvSpPr>
        <p:spPr>
          <a:xfrm>
            <a:off x="1817914" y="291513"/>
            <a:ext cx="8720829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 lang="ru-RU" sz="4000" b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900D2B6C-AF97-6C80-19DB-6DEF2DF72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05277"/>
              </p:ext>
            </p:extLst>
          </p:nvPr>
        </p:nvGraphicFramePr>
        <p:xfrm>
          <a:off x="1817914" y="1283241"/>
          <a:ext cx="8948100" cy="4022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053">
                  <a:extLst>
                    <a:ext uri="{9D8B030D-6E8A-4147-A177-3AD203B41FA5}">
                      <a16:colId xmlns:a16="http://schemas.microsoft.com/office/drawing/2014/main" val="1440198789"/>
                    </a:ext>
                  </a:extLst>
                </a:gridCol>
                <a:gridCol w="1304144">
                  <a:extLst>
                    <a:ext uri="{9D8B030D-6E8A-4147-A177-3AD203B41FA5}">
                      <a16:colId xmlns:a16="http://schemas.microsoft.com/office/drawing/2014/main" val="2225419513"/>
                    </a:ext>
                  </a:extLst>
                </a:gridCol>
                <a:gridCol w="1236689">
                  <a:extLst>
                    <a:ext uri="{9D8B030D-6E8A-4147-A177-3AD203B41FA5}">
                      <a16:colId xmlns:a16="http://schemas.microsoft.com/office/drawing/2014/main" val="2299814723"/>
                    </a:ext>
                  </a:extLst>
                </a:gridCol>
                <a:gridCol w="2024072">
                  <a:extLst>
                    <a:ext uri="{9D8B030D-6E8A-4147-A177-3AD203B41FA5}">
                      <a16:colId xmlns:a16="http://schemas.microsoft.com/office/drawing/2014/main" val="833340576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36328162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07420522"/>
                    </a:ext>
                  </a:extLst>
                </a:gridCol>
                <a:gridCol w="1233714">
                  <a:extLst>
                    <a:ext uri="{9D8B030D-6E8A-4147-A177-3AD203B41FA5}">
                      <a16:colId xmlns:a16="http://schemas.microsoft.com/office/drawing/2014/main" val="2789009733"/>
                    </a:ext>
                  </a:extLst>
                </a:gridCol>
              </a:tblGrid>
              <a:tr h="532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Налоговый период: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TaxPeriod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5357222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Номер документа-основания: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BaseDocNumber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3397981"/>
                  </a:ext>
                </a:extLst>
              </a:tr>
              <a:tr h="1963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Дата документа-основания: 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BaseDocDate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498491"/>
                  </a:ext>
                </a:extLst>
              </a:tr>
              <a:tr h="70123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Сумма платежа (цифрами): 6480-28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Amount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Основание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3859311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 платежа: Страховые взносы в СФР... за январь 2025 г. Регистрационный № 1234567890.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 (текстовый)</a:t>
                      </a:r>
                    </a:p>
                  </a:txBody>
                  <a:tcPr marL="0" marR="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18319787"/>
                  </a:ext>
                </a:extLst>
              </a:tr>
              <a:tr h="86953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Оформительская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Подписи (Место для подписи)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Нет*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8453378"/>
                  </a:ext>
                </a:extLst>
              </a:tr>
              <a:tr h="36464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Оформительская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Отметки банка (М.П., штамп)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Нет*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ru-RU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22860" marR="22860" marT="15240" marB="152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735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4493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>
          <a:extLst>
            <a:ext uri="{FF2B5EF4-FFF2-40B4-BE49-F238E27FC236}">
              <a16:creationId xmlns:a16="http://schemas.microsoft.com/office/drawing/2014/main" id="{6C34E570-4694-55DF-6703-92DD9234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8">
            <a:extLst>
              <a:ext uri="{FF2B5EF4-FFF2-40B4-BE49-F238E27FC236}">
                <a16:creationId xmlns:a16="http://schemas.microsoft.com/office/drawing/2014/main" id="{6D948150-5F4A-B42F-9FC3-183743995A61}"/>
              </a:ext>
            </a:extLst>
          </p:cNvPr>
          <p:cNvSpPr/>
          <p:nvPr/>
        </p:nvSpPr>
        <p:spPr>
          <a:xfrm>
            <a:off x="584425" y="6387200"/>
            <a:ext cx="582000" cy="309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2"/>
                </a:solidFill>
              </a:rPr>
              <a:t>202</a:t>
            </a:r>
            <a:r>
              <a:rPr lang="ru-RU" dirty="0">
                <a:solidFill>
                  <a:schemeClr val="lt2"/>
                </a:solidFill>
              </a:rPr>
              <a:t>6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311" name="Google Shape;311;p38">
            <a:extLst>
              <a:ext uri="{FF2B5EF4-FFF2-40B4-BE49-F238E27FC236}">
                <a16:creationId xmlns:a16="http://schemas.microsoft.com/office/drawing/2014/main" id="{11B47C9D-1EB4-1AAF-B829-79BFD09C29F6}"/>
              </a:ext>
            </a:extLst>
          </p:cNvPr>
          <p:cNvSpPr txBox="1"/>
          <p:nvPr/>
        </p:nvSpPr>
        <p:spPr>
          <a:xfrm>
            <a:off x="1086743" y="1800488"/>
            <a:ext cx="10659101" cy="3785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ru-RU" sz="1800" b="1" dirty="0"/>
              <a:t>Реквизиты-признаки:</a:t>
            </a:r>
            <a:r>
              <a:rPr lang="ru-RU" sz="1800" dirty="0"/>
              <a:t> Подавляющее большинство реквизитов (№№ 2–22, 24–30) являются качественными характеристиками операции. Они отвечают на вопросы "кто?", "когда?", "куда?", "за что?" и служат для идентификации платежа (ИНН, БИК, КБК, счета, назначение платежа).</a:t>
            </a:r>
            <a:endParaRPr lang="en-US" sz="1800" dirty="0"/>
          </a:p>
          <a:p>
            <a:endParaRPr lang="ru-RU" sz="1800" dirty="0"/>
          </a:p>
          <a:p>
            <a:r>
              <a:rPr lang="ru-RU" sz="1800" b="1" dirty="0"/>
              <a:t>Реквизиты-основания:</a:t>
            </a:r>
            <a:r>
              <a:rPr lang="ru-RU" sz="1800" dirty="0"/>
              <a:t> В данном документе ярко выраженным </a:t>
            </a:r>
            <a:r>
              <a:rPr lang="ru-RU" sz="1800" b="1" dirty="0"/>
              <a:t>основанием</a:t>
            </a:r>
            <a:r>
              <a:rPr lang="ru-RU" sz="1800" dirty="0"/>
              <a:t> является </a:t>
            </a:r>
            <a:r>
              <a:rPr lang="ru-RU" sz="1800" b="1" dirty="0"/>
              <a:t>«Сумма» (</a:t>
            </a:r>
            <a:r>
              <a:rPr lang="ru-RU" sz="1800" b="1" dirty="0" err="1"/>
              <a:t>Amount</a:t>
            </a:r>
            <a:r>
              <a:rPr lang="ru-RU" sz="1800" b="1" dirty="0"/>
              <a:t>)</a:t>
            </a:r>
            <a:r>
              <a:rPr lang="ru-RU" sz="1800" dirty="0"/>
              <a:t> (п. 29). Именно она представляет собой количественную величину (в рублях), над которой в дальнейшем можно выполнять арифметические операции (суммирование, группировка по сумме). В полях назначения платежа также присутствует регистрационный номер (количество цифр), но он выполняет функцию идентификатора, поэтому остается признаком.</a:t>
            </a:r>
            <a:endParaRPr lang="en-US" sz="1800" dirty="0"/>
          </a:p>
          <a:p>
            <a:endParaRPr lang="ru-RU" sz="1800" dirty="0"/>
          </a:p>
          <a:p>
            <a:r>
              <a:rPr lang="ru-RU" sz="1800" b="1" dirty="0"/>
              <a:t>Вывод:</a:t>
            </a:r>
            <a:r>
              <a:rPr lang="ru-RU" sz="1800" dirty="0"/>
              <a:t> Платежное поручение представляет собой классический пример документа с жестким форматом, содержащим один главный показатель (основание — сумма) и множество идентифицирующих признаков.</a:t>
            </a:r>
          </a:p>
        </p:txBody>
      </p:sp>
      <p:sp>
        <p:nvSpPr>
          <p:cNvPr id="312" name="Google Shape;312;p38">
            <a:extLst>
              <a:ext uri="{FF2B5EF4-FFF2-40B4-BE49-F238E27FC236}">
                <a16:creationId xmlns:a16="http://schemas.microsoft.com/office/drawing/2014/main" id="{4A715656-7AD0-A60C-706B-3EB480DE9AF6}"/>
              </a:ext>
            </a:extLst>
          </p:cNvPr>
          <p:cNvSpPr txBox="1"/>
          <p:nvPr/>
        </p:nvSpPr>
        <p:spPr>
          <a:xfrm>
            <a:off x="2319900" y="377375"/>
            <a:ext cx="7413300" cy="4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3200" b="1" dirty="0"/>
              <a:t>Анализ выявленных реквизитов</a:t>
            </a:r>
          </a:p>
        </p:txBody>
      </p:sp>
    </p:spTree>
    <p:extLst>
      <p:ext uri="{BB962C8B-B14F-4D97-AF65-F5344CB8AC3E}">
        <p14:creationId xmlns:p14="http://schemas.microsoft.com/office/powerpoint/2010/main" val="22316070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112"/>
          <p:cNvSpPr txBox="1">
            <a:spLocks noGrp="1"/>
          </p:cNvSpPr>
          <p:nvPr>
            <p:ph type="title"/>
          </p:nvPr>
        </p:nvSpPr>
        <p:spPr>
          <a:xfrm>
            <a:off x="916863" y="1616633"/>
            <a:ext cx="10423444" cy="22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900"/>
              <a:buFont typeface="Times New Roman"/>
              <a:buNone/>
            </a:pPr>
            <a:r>
              <a:rPr lang="en-US" sz="69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СПАСИБО ЗА ВНИМАНИЕ!</a:t>
            </a:r>
            <a:endParaRPr dirty="0"/>
          </a:p>
        </p:txBody>
      </p:sp>
      <p:sp>
        <p:nvSpPr>
          <p:cNvPr id="942" name="Google Shape;942;p112"/>
          <p:cNvSpPr txBox="1"/>
          <p:nvPr/>
        </p:nvSpPr>
        <p:spPr>
          <a:xfrm>
            <a:off x="913800" y="6125934"/>
            <a:ext cx="214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Нижний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Новгород</a:t>
            </a:r>
            <a:r>
              <a:rPr lang="en-US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202</a:t>
            </a:r>
            <a:r>
              <a:rPr lang="ru-RU" sz="14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dirty="0"/>
          </a:p>
        </p:txBody>
      </p:sp>
      <p:sp>
        <p:nvSpPr>
          <p:cNvPr id="943" name="Google Shape;943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112" descr="Самые смешные фото котов, которые наделали шума в интернете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112"/>
          <p:cNvSpPr/>
          <p:nvPr/>
        </p:nvSpPr>
        <p:spPr>
          <a:xfrm rot="-5400000">
            <a:off x="11819050" y="760475"/>
            <a:ext cx="719100" cy="414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202</a:t>
            </a:r>
            <a:r>
              <a:rPr lang="ru-RU" sz="1800" dirty="0">
                <a:solidFill>
                  <a:schemeClr val="lt1"/>
                </a:solidFill>
              </a:rPr>
              <a:t>6</a:t>
            </a:r>
            <a:endParaRPr sz="1800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A30236"/>
      </a:accent1>
      <a:accent2>
        <a:srgbClr val="ED7D31"/>
      </a:accent2>
      <a:accent3>
        <a:srgbClr val="879DC1"/>
      </a:accent3>
      <a:accent4>
        <a:srgbClr val="FF5C36"/>
      </a:accent4>
      <a:accent5>
        <a:srgbClr val="3F5CBD"/>
      </a:accent5>
      <a:accent6>
        <a:srgbClr val="12A3A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843</Words>
  <Application>Microsoft Office PowerPoint</Application>
  <PresentationFormat>Произвольный</PresentationFormat>
  <Paragraphs>270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Times New Roman</vt:lpstr>
      <vt:lpstr>Arial</vt:lpstr>
      <vt:lpstr>Calibri</vt:lpstr>
      <vt:lpstr>Helvetica Neue</vt:lpstr>
      <vt:lpstr>Тема Office</vt:lpstr>
      <vt:lpstr>Лабораторная работа №2</vt:lpstr>
      <vt:lpstr>Используемое ПО</vt:lpstr>
      <vt:lpstr>Цель работы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Arti</dc:creator>
  <cp:lastModifiedBy>Arti</cp:lastModifiedBy>
  <cp:revision>10</cp:revision>
  <dcterms:modified xsi:type="dcterms:W3CDTF">2026-02-25T20:58:57Z</dcterms:modified>
</cp:coreProperties>
</file>