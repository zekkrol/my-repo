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4"/>
  </p:notesMasterIdLst>
  <p:sldIdLst>
    <p:sldId id="256" r:id="rId2"/>
    <p:sldId id="258" r:id="rId3"/>
    <p:sldId id="257" r:id="rId4"/>
    <p:sldId id="356" r:id="rId5"/>
    <p:sldId id="259" r:id="rId6"/>
    <p:sldId id="334" r:id="rId7"/>
    <p:sldId id="335" r:id="rId8"/>
    <p:sldId id="342" r:id="rId9"/>
    <p:sldId id="343" r:id="rId10"/>
    <p:sldId id="353" r:id="rId11"/>
    <p:sldId id="354" r:id="rId12"/>
    <p:sldId id="355" r:id="rId13"/>
    <p:sldId id="352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33" r:id="rId23"/>
  </p:sldIdLst>
  <p:sldSz cx="12954000" cy="6832600"/>
  <p:notesSz cx="6858000" cy="9144000"/>
  <p:embeddedFontLst>
    <p:embeddedFont>
      <p:font typeface="Helvetica Neu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8" y="91"/>
      </p:cViewPr>
      <p:guideLst>
        <p:guide orient="horz" pos="2152"/>
        <p:guide pos="4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3741d0dff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3741d0dffc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41d0df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41d0dffc_0_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>
          <a:extLst>
            <a:ext uri="{FF2B5EF4-FFF2-40B4-BE49-F238E27FC236}">
              <a16:creationId xmlns:a16="http://schemas.microsoft.com/office/drawing/2014/main" id="{F17E6FB7-3752-D23F-9542-3AD8F5E5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41d0dffc_0_3:notes">
            <a:extLst>
              <a:ext uri="{FF2B5EF4-FFF2-40B4-BE49-F238E27FC236}">
                <a16:creationId xmlns:a16="http://schemas.microsoft.com/office/drawing/2014/main" id="{213E50E7-CC5D-B16C-FBA2-3ADA98320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41d0dffc_0_3:notes">
            <a:extLst>
              <a:ext uri="{FF2B5EF4-FFF2-40B4-BE49-F238E27FC236}">
                <a16:creationId xmlns:a16="http://schemas.microsoft.com/office/drawing/2014/main" id="{C374E57D-9DF1-C2CC-35C0-2303E3EF4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778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986F224B-BE72-65AE-F2F4-6999ECAD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3B60FEA-B766-B970-38A7-6DFC7FE0F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E8BF97C1-C784-1C96-6B2F-C488142AB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7929EEB-7CE0-6433-30C8-16E0C8B3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C8E1FF49-EEF7-474C-ADAC-96F09BF70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C3FE695-8D0C-B129-2D6B-F509A8FBD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316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24FF6DA-683B-01FA-0DA1-17C56AB2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69C382BD-DA5B-8B39-5508-31ADD1E14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F5FAC8D-3E62-6428-5006-6B8F444C6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160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624283D9-02CA-23E8-04A3-75C4ABB5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77FC03AA-1274-6DA9-E749-F15A14BCE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FD9FAC77-4477-BCA2-E804-574EBE4F1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562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05C462B-9924-8427-71F0-55B89804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501F60A5-A9AF-C07B-685E-F1ADD0E98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7985A891-3CB6-E1C2-4D43-6CBD1531F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399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A4191DD-37F7-7EB2-513A-93F22066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81975263-5AE0-0ECE-71EE-6C4A8F916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C1F0F90-2CEE-2D08-CC12-91B92643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1937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E1F578F-81AE-F192-1163-347193D2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D2D77003-D5B6-DFEB-F5E4-ABA9A7610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DB9D88DE-7EA5-B77A-489E-1A4AA0077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8904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6C0288D-709B-AE37-3F02-D29D36D6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1CB0FDA9-872D-C584-9CFF-B2F4D7C02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589866D-F17F-E18E-5C48-2F585C293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2240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0A78A38-50C3-5059-F8B8-C618A6DC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4A22ABAC-DD6F-AF8A-F79C-1EE61C616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7AC169C9-AAB0-AECA-1531-5C209C71A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2019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06749E4E-991C-A70F-00CF-25F498A1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7CAE870D-866F-3642-994D-8A2C6EDE0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15CA9D88-AD06-289E-39B4-88B5798A1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5434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8B963AC-A9C2-87C2-D951-AB1E16B4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C94E05F6-A2F8-E42A-94B3-AD8E401F63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3CBD03C-C2E5-3CBB-ABCC-C451E87AF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6191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DCEB8B6-DA7F-AD69-4ACA-DD84033E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6AF8206B-42D1-0567-6BD4-7484FD835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F6B639E1-F839-71BD-C008-BA64CA75C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7568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A6536DA-A0F3-B34B-F44B-37372D5D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06B9B822-26F7-B262-0277-CD0D3C64D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33F54BBF-9955-F0E2-1CDB-81889176B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1419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41FEF11E-AB24-4D48-FF83-0644E130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8D2FB45F-75C3-D684-3040-72151A468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124B8BE7-A9F2-B212-48EB-9B0C00B6D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4250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7AE22793-DAEC-4569-7E83-2FE5D0E9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1DB378B-E369-D52D-82E7-B0DEB4CF5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9F8882CC-521E-27FE-5111-1F6E3F622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8861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0386E8B1-829F-4F4F-D04B-2B03B6E7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E462917C-926C-70EC-4B1D-259BED06F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8529EC1C-56AE-801F-760A-3F18AFD7D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1863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Титульный слайд" type="tx">
  <p:cSld name="TITLE_AND_BODY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" name="Google Shape;17;p2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2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>
  <p:cSld name="Титульный слайд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900000" y="919196"/>
            <a:ext cx="8649708" cy="53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77012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8" descr="Picture 16"/>
          <p:cNvPicPr preferRelativeResize="0"/>
          <p:nvPr/>
        </p:nvPicPr>
        <p:blipFill rotWithShape="1">
          <a:blip r:embed="rId2">
            <a:alphaModFix/>
          </a:blip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Рисунок с подписью">
  <p:cSld name="1_Рисунок с подписью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77" name="Google Shape;77;p10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00000" y="863999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3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Рисунок с подписью">
  <p:cSld name="2_Рисунок с подписью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87" name="Google Shape;87;p1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1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Рисунок с подписью">
  <p:cSld name="3_Рисунок с подписью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5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6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7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0" name="Google Shape;120;p14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Титульный слайд">
  <p:cSld name="7_Титульный слайд">
    <p:bg>
      <p:bgPr>
        <a:solidFill>
          <a:srgbClr val="80808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6" name="Google Shape;126;p15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0" name="Google Shape;130;p15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Титульный слайд">
  <p:cSld name="8_Титульный слайд">
    <p:bg>
      <p:bgPr>
        <a:solidFill>
          <a:srgbClr val="A6A6A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6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" tIns="25300" rIns="25300" bIns="253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Рисунок 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Google Shape;10;p1" descr="Рисунок 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902203" y="0"/>
            <a:ext cx="1058147" cy="68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pmn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lcode.ru/service/news/populyarnie-voprosy-otvety/kompaniya-poluchila-trebovaniya-na-uplatu-strahov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1393900" y="608225"/>
            <a:ext cx="105774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dirty="0"/>
              <a:t>Лабораторная работа №2</a:t>
            </a:r>
            <a:endParaRPr lang="en-US" dirty="0"/>
          </a:p>
        </p:txBody>
      </p:sp>
      <p:sp>
        <p:nvSpPr>
          <p:cNvPr id="286" name="Google Shape;286;p35"/>
          <p:cNvSpPr txBox="1">
            <a:spLocks noGrp="1"/>
          </p:cNvSpPr>
          <p:nvPr>
            <p:ph type="body" idx="1"/>
          </p:nvPr>
        </p:nvSpPr>
        <p:spPr>
          <a:xfrm>
            <a:off x="8990091" y="5078387"/>
            <a:ext cx="2350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Выполнил</a:t>
            </a:r>
            <a:r>
              <a:rPr lang="ru-RU" sz="1400" dirty="0"/>
              <a:t>и</a:t>
            </a:r>
            <a:r>
              <a:rPr lang="en-US" sz="1400" dirty="0"/>
              <a:t>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Лапшов Артем</a:t>
            </a:r>
            <a:r>
              <a:rPr lang="ru-RU" sz="1400" dirty="0"/>
              <a:t>,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ru-RU" sz="1400" dirty="0"/>
              <a:t>Павликов Максим</a:t>
            </a:r>
            <a:endParaRPr sz="1400" dirty="0"/>
          </a:p>
        </p:txBody>
      </p:sp>
      <p:sp>
        <p:nvSpPr>
          <p:cNvPr id="287" name="Google Shape;287;p35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89" name="Google Shape;289;p35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869350" y="38570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ru-RU" sz="3200" dirty="0"/>
              <a:t>Цель работы</a:t>
            </a:r>
            <a:endParaRPr lang="ru-RU" dirty="0"/>
          </a:p>
        </p:txBody>
      </p:sp>
      <p:sp>
        <p:nvSpPr>
          <p:cNvPr id="304" name="Google Shape;304;p37"/>
          <p:cNvSpPr txBox="1"/>
          <p:nvPr/>
        </p:nvSpPr>
        <p:spPr>
          <a:xfrm>
            <a:off x="584425" y="1713968"/>
            <a:ext cx="11563663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dirty="0"/>
              <a:t>Получение практических навыков реквизитного анализа первичных экономических документов, изучение стандарта описания бизнес-процессов BPMN 2.0 и проектирование структуры базы данных (концептуальной, логической, физической) для хранения информации документа.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/>
          <p:nvPr/>
        </p:nvSpPr>
        <p:spPr>
          <a:xfrm>
            <a:off x="584425" y="6387200"/>
            <a:ext cx="8148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5" name="Google Shape;295;p36"/>
          <p:cNvSpPr txBox="1">
            <a:spLocks noGrp="1"/>
          </p:cNvSpPr>
          <p:nvPr>
            <p:ph type="title"/>
          </p:nvPr>
        </p:nvSpPr>
        <p:spPr>
          <a:xfrm>
            <a:off x="947225" y="44225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algn="ctr"/>
            <a:r>
              <a:rPr lang="ru-RU" dirty="0">
                <a:highlight>
                  <a:srgbClr val="FFFFFF"/>
                </a:highlight>
              </a:rPr>
              <a:t>Используемое ПО</a:t>
            </a:r>
          </a:p>
        </p:txBody>
      </p:sp>
      <p:sp>
        <p:nvSpPr>
          <p:cNvPr id="296" name="Google Shape;296;p36"/>
          <p:cNvSpPr txBox="1">
            <a:spLocks noGrp="1"/>
          </p:cNvSpPr>
          <p:nvPr>
            <p:ph type="body" idx="1"/>
          </p:nvPr>
        </p:nvSpPr>
        <p:spPr>
          <a:xfrm>
            <a:off x="258299" y="1706661"/>
            <a:ext cx="11369271" cy="23863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1800" b="1" dirty="0"/>
              <a:t>Браузер:</a:t>
            </a:r>
            <a:r>
              <a:rPr lang="ru-RU" sz="1800" dirty="0"/>
              <a:t> Google </a:t>
            </a:r>
            <a:r>
              <a:rPr lang="ru-RU" sz="1800" dirty="0" err="1"/>
              <a:t>Chrome</a:t>
            </a:r>
            <a:r>
              <a:rPr lang="ru-RU" sz="1800" dirty="0"/>
              <a:t> / Yandex (для поиска документа и описаний).</a:t>
            </a:r>
          </a:p>
          <a:p>
            <a:r>
              <a:rPr lang="ru-RU" sz="1800" b="1" dirty="0"/>
              <a:t>Текстовый редактор:</a:t>
            </a:r>
            <a:r>
              <a:rPr lang="ru-RU" sz="1800" dirty="0"/>
              <a:t> Microsoft Word / Google </a:t>
            </a:r>
            <a:r>
              <a:rPr lang="ru-RU" sz="1800" dirty="0" err="1"/>
              <a:t>Docs</a:t>
            </a:r>
            <a:r>
              <a:rPr lang="ru-RU" sz="1800" dirty="0"/>
              <a:t> (для оформления отчета).</a:t>
            </a:r>
          </a:p>
          <a:p>
            <a:r>
              <a:rPr lang="ru-RU" sz="1800" b="1" dirty="0"/>
              <a:t>Инструмент BPMN-моделирования:</a:t>
            </a:r>
            <a:r>
              <a:rPr lang="ru-RU" sz="1800" dirty="0"/>
              <a:t> </a:t>
            </a:r>
            <a:r>
              <a:rPr lang="ru-RU" sz="1800" i="1" dirty="0"/>
              <a:t>Выбор одного из вариантов</a:t>
            </a:r>
            <a:r>
              <a:rPr lang="ru-RU" sz="1800" dirty="0"/>
              <a:t>:</a:t>
            </a:r>
          </a:p>
          <a:p>
            <a:pPr lvl="1"/>
            <a:r>
              <a:rPr lang="ru-RU" sz="1800" b="1" dirty="0"/>
              <a:t>Online:</a:t>
            </a:r>
            <a:r>
              <a:rPr lang="ru-RU" sz="1800" dirty="0"/>
              <a:t> </a:t>
            </a:r>
            <a:r>
              <a:rPr lang="ru-RU" sz="1800" dirty="0">
                <a:hlinkClick r:id="rId3"/>
              </a:rPr>
              <a:t>BPMN.io</a:t>
            </a:r>
            <a:r>
              <a:rPr lang="ru-RU" sz="1800" dirty="0"/>
              <a:t> (бесплатный, онлайн, не требует установки) .</a:t>
            </a:r>
          </a:p>
          <a:p>
            <a:pPr lvl="1"/>
            <a:r>
              <a:rPr lang="ru-RU" sz="1800" b="1" dirty="0"/>
              <a:t>Desktop:</a:t>
            </a:r>
            <a:r>
              <a:rPr lang="ru-RU" sz="1800" dirty="0"/>
              <a:t> </a:t>
            </a:r>
            <a:r>
              <a:rPr lang="ru-RU" sz="1800" dirty="0" err="1"/>
              <a:t>Bizagi</a:t>
            </a:r>
            <a:r>
              <a:rPr lang="ru-RU" sz="1800" dirty="0"/>
              <a:t> </a:t>
            </a:r>
            <a:r>
              <a:rPr lang="ru-RU" sz="1800" dirty="0" err="1"/>
              <a:t>Modeler</a:t>
            </a:r>
            <a:r>
              <a:rPr lang="ru-RU" sz="1800" dirty="0"/>
              <a:t> (бесплатный, поддерживает полную спецификацию BPMN 2.0) .</a:t>
            </a:r>
          </a:p>
          <a:p>
            <a:r>
              <a:rPr lang="ru-RU" sz="1800" b="1" dirty="0"/>
              <a:t>СУБД для проектирования</a:t>
            </a:r>
            <a:endParaRPr lang="ru-RU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84067D2A-A198-B65F-C360-2F8BC98D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>
            <a:extLst>
              <a:ext uri="{FF2B5EF4-FFF2-40B4-BE49-F238E27FC236}">
                <a16:creationId xmlns:a16="http://schemas.microsoft.com/office/drawing/2014/main" id="{FEF48FA9-FB34-2841-B20D-E46B042748DB}"/>
              </a:ext>
            </a:extLst>
          </p:cNvPr>
          <p:cNvSpPr/>
          <p:nvPr/>
        </p:nvSpPr>
        <p:spPr>
          <a:xfrm>
            <a:off x="584425" y="6387200"/>
            <a:ext cx="8148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5" name="Google Shape;295;p36">
            <a:extLst>
              <a:ext uri="{FF2B5EF4-FFF2-40B4-BE49-F238E27FC236}">
                <a16:creationId xmlns:a16="http://schemas.microsoft.com/office/drawing/2014/main" id="{9F918B6B-23A9-F117-754B-C6DD2CB79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225" y="44225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algn="ctr"/>
            <a:r>
              <a:rPr lang="ru-RU" sz="3200" dirty="0">
                <a:highlight>
                  <a:srgbClr val="FFFFFF"/>
                </a:highlight>
              </a:rPr>
              <a:t>Платежное поручение</a:t>
            </a:r>
            <a:endParaRPr lang="ru-RU" dirty="0">
              <a:highlight>
                <a:srgbClr val="FFFFFF"/>
              </a:highlight>
            </a:endParaRPr>
          </a:p>
        </p:txBody>
      </p:sp>
      <p:sp>
        <p:nvSpPr>
          <p:cNvPr id="296" name="Google Shape;296;p36">
            <a:extLst>
              <a:ext uri="{FF2B5EF4-FFF2-40B4-BE49-F238E27FC236}">
                <a16:creationId xmlns:a16="http://schemas.microsoft.com/office/drawing/2014/main" id="{C957A71A-0777-F0CD-5EC6-F5D5BA133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8299" y="1706661"/>
            <a:ext cx="11369271" cy="23863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 lang="ru-RU" sz="1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461AE-F469-FD3D-4B1E-3532D081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937" y="1064771"/>
            <a:ext cx="5575140" cy="56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4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696999" y="1439365"/>
            <a:ext cx="1065910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dirty="0"/>
              <a:t>Для анализа был использован документ «Платежное поручение № 9 от 11.02.2025» (форма 0401060), предназначенный для уплаты страховых взносов в СФР (Социальный фонд России).</a:t>
            </a:r>
          </a:p>
          <a:p>
            <a:endParaRPr lang="ru-RU" sz="1800" dirty="0"/>
          </a:p>
          <a:p>
            <a:r>
              <a:rPr lang="ru-RU" sz="1800" dirty="0"/>
              <a:t>В соответствии с теоретическим материалом, в структуре документа выделены:</a:t>
            </a:r>
          </a:p>
          <a:p>
            <a:r>
              <a:rPr lang="ru-RU" sz="1800" b="1" dirty="0"/>
              <a:t>Общая (заголовочная) часть</a:t>
            </a:r>
            <a:r>
              <a:rPr lang="ru-RU" sz="1800" dirty="0"/>
              <a:t> — реквизиты, характеризующие документ в целом.</a:t>
            </a:r>
          </a:p>
          <a:p>
            <a:r>
              <a:rPr lang="ru-RU" sz="1800" b="1" dirty="0"/>
              <a:t>Предметная (содержательная) часть</a:t>
            </a:r>
            <a:r>
              <a:rPr lang="ru-RU" sz="1800" dirty="0"/>
              <a:t> — строки, содержащие количественную характеристику операции (сумма, КБК, ОКТМО и т.д.) и качественные признаки платежа.</a:t>
            </a:r>
          </a:p>
          <a:p>
            <a:r>
              <a:rPr lang="ru-RU" sz="1800" b="1" dirty="0"/>
              <a:t>Оформительская (</a:t>
            </a:r>
            <a:r>
              <a:rPr lang="ru-RU" sz="1800" b="1" dirty="0" err="1"/>
              <a:t>заверительная</a:t>
            </a:r>
            <a:r>
              <a:rPr lang="ru-RU" sz="1800" b="1" dirty="0"/>
              <a:t>) часть</a:t>
            </a:r>
            <a:r>
              <a:rPr lang="ru-RU" sz="1800" dirty="0"/>
              <a:t> — подписи, печати, отметки банка.</a:t>
            </a:r>
          </a:p>
          <a:p>
            <a:endParaRPr lang="ru-RU" sz="1800" dirty="0"/>
          </a:p>
        </p:txBody>
      </p:sp>
      <p:sp>
        <p:nvSpPr>
          <p:cNvPr id="312" name="Google Shape;312;p38"/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Реквизитный Анализ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BE3129B-6552-951F-DB73-1E718D1B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BAAAA87-DFAC-BF9E-9359-9D81425DF257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52482002-65CF-8C14-7A6E-26486F18C949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Таблица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B1A9218-A61B-97D0-258A-96F747D7C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805971"/>
              </p:ext>
            </p:extLst>
          </p:nvPr>
        </p:nvGraphicFramePr>
        <p:xfrm>
          <a:off x="2002950" y="1141537"/>
          <a:ext cx="8948100" cy="501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Часть документа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части (по методичке)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реквизита во </a:t>
                      </a:r>
                      <a:r>
                        <a:rPr lang="ru-RU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внемаш</a:t>
                      </a: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документе (содержание из файла)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Перенос в норм. файл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 в норм. файле (лат.)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реквизита</a:t>
                      </a:r>
                    </a:p>
                  </a:txBody>
                  <a:tcPr marL="0" marR="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формы: ПЛАТЕЖНОЕ ПОРУЧЕНИЕ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(константа)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документа: 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DocNumber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составления: 11.02.2025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DocDate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платежа: пусто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PaymentType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прописью: Шесть тысяч четыреста восемьдесят рублей 28 копеек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(дублирует цифры)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78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плательщика: 1234567891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PayerINN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7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плательщика: 0 (т.е. отсутствует)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PayerKPP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7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Плательщик: ООО «Вектор»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PayerName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37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плательщика: 40702810412300001111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PayerAccount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99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плательщика: АО «Банк», г. Красноярск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PayerBankName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95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банка плательщика: 044583123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PayerBIC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6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01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0B5E5F83-1020-EBD1-44A3-698881FD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1962C14D-8EE4-B2E4-6727-AD67FD60091F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0B74F2F5-DA2F-9425-4170-4E27512FF145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ru-RU" sz="40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72C515E-DF18-3669-8A78-916D71C0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11960"/>
              </p:ext>
            </p:extLst>
          </p:nvPr>
        </p:nvGraphicFramePr>
        <p:xfrm>
          <a:off x="1704278" y="248920"/>
          <a:ext cx="8948100" cy="6186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банка плательщика (корр.): 30101810412300000222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PayerCorrAcc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получателя: 2466001885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PayeeINN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97981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получателя: 246501001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PayeeKPP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98491"/>
                  </a:ext>
                </a:extLst>
              </a:tr>
              <a:tr h="7012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Получатель: УФК по Красноярскому краю (ОСФР по Красноярскому краю, л/сч 04194Ф19010)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получателя: 03100643000000011900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PayeeAccount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8695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получателя: Отделение Красноярск Банка России//УФК по Красноярскому краю г. Красноярск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PayeeBankName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банка получателя: 010407105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PayeeBIC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банка получателя (корр.): 40102810245370000011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PayeeCorrAcc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785643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операции: 01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OperationType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77845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Очередность платежа: 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775554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(УИН):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37695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КБК: 79710212000061000160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99326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ОКТМО (в платеже не заполнен, но поле есть)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OKTMO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957282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 платежа: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PaymentBasis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6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11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1ACB085-15E0-628C-3513-2A14AAD2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A19D1116-F309-B5A5-6D08-F6D0C14E76ED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0DE58FE-195A-7674-3D59-84BBF87290CA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ru-RU" sz="40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00D2B6C-AF97-6C80-19DB-6DEF2DF72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45472"/>
              </p:ext>
            </p:extLst>
          </p:nvPr>
        </p:nvGraphicFramePr>
        <p:xfrm>
          <a:off x="1817914" y="1283241"/>
          <a:ext cx="8948100" cy="4054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Налоговый период: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TaxPeriod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документа-основания: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BaseDocNumber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97981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документа-основания: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BaseDocDate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98491"/>
                  </a:ext>
                </a:extLst>
              </a:tr>
              <a:tr h="7012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платежа (цифрами): 6480-28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платежа: Страховые взносы в СФР... за январь 2025 г. Регистрационный № 1234567890.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(текстовый)</a:t>
                      </a:r>
                    </a:p>
                  </a:txBody>
                  <a:tcPr marL="0" marR="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8695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Оформительская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Подписи (Место для подписи)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Нет*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Оформительская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Отметки банка (М.П., штамп)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Нет*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">
                        <a:buNone/>
                      </a:pP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493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C34E570-4694-55DF-6703-92DD9234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6D948150-5F4A-B42F-9FC3-183743995A61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11B47C9D-1EB4-1AAF-B829-79BFD09C29F6}"/>
              </a:ext>
            </a:extLst>
          </p:cNvPr>
          <p:cNvSpPr txBox="1"/>
          <p:nvPr/>
        </p:nvSpPr>
        <p:spPr>
          <a:xfrm>
            <a:off x="1086743" y="1800488"/>
            <a:ext cx="10659101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dirty="0"/>
              <a:t>Реквизиты-признаки:</a:t>
            </a:r>
            <a:r>
              <a:rPr lang="ru-RU" sz="1800" dirty="0"/>
              <a:t> Подавляющее большинство реквизитов (№№ 2–22, 24–30) являются качественными характеристиками операции. Они отвечают на вопросы "кто?", "когда?", "куда?", "за что?" и служат для идентификации платежа (ИНН, БИК, КБК, счета, назначение платежа).</a:t>
            </a:r>
            <a:endParaRPr lang="en-US" sz="1800" dirty="0"/>
          </a:p>
          <a:p>
            <a:endParaRPr lang="ru-RU" sz="1800" dirty="0"/>
          </a:p>
          <a:p>
            <a:r>
              <a:rPr lang="ru-RU" sz="1800" b="1" dirty="0"/>
              <a:t>Реквизиты-основания:</a:t>
            </a:r>
            <a:r>
              <a:rPr lang="ru-RU" sz="1800" dirty="0"/>
              <a:t> В данном документе ярко выраженным </a:t>
            </a:r>
            <a:r>
              <a:rPr lang="ru-RU" sz="1800" b="1" dirty="0"/>
              <a:t>основанием</a:t>
            </a:r>
            <a:r>
              <a:rPr lang="ru-RU" sz="1800" dirty="0"/>
              <a:t> является </a:t>
            </a:r>
            <a:r>
              <a:rPr lang="ru-RU" sz="1800" b="1" dirty="0"/>
              <a:t>«Сумма» (</a:t>
            </a:r>
            <a:r>
              <a:rPr lang="ru-RU" sz="1800" b="1" dirty="0" err="1"/>
              <a:t>Amount</a:t>
            </a:r>
            <a:r>
              <a:rPr lang="ru-RU" sz="1800" b="1" dirty="0"/>
              <a:t>)</a:t>
            </a:r>
            <a:r>
              <a:rPr lang="ru-RU" sz="1800" dirty="0"/>
              <a:t> (п. 29). Именно она представляет собой количественную величину (в рублях), над которой в дальнейшем можно выполнять арифметические операции (суммирование, группировка по сумме). В полях назначения платежа также присутствует регистрационный номер (количество цифр), но он выполняет функцию идентификатора, поэтому остается признаком.</a:t>
            </a:r>
            <a:endParaRPr lang="en-US" sz="1800" dirty="0"/>
          </a:p>
          <a:p>
            <a:endParaRPr lang="ru-RU" sz="1800" dirty="0"/>
          </a:p>
          <a:p>
            <a:r>
              <a:rPr lang="ru-RU" sz="1800" b="1" dirty="0"/>
              <a:t>Вывод:</a:t>
            </a:r>
            <a:r>
              <a:rPr lang="ru-RU" sz="1800" dirty="0"/>
              <a:t> Платежное поручение представляет собой классический пример документа с жестким форматом, содержащим один главный показатель (основание — сумма) и множество идентифицирующих признаков.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4A715656-7AD0-A60C-706B-3EB480DE9AF6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Анализ выявленных реквизитов</a:t>
            </a:r>
          </a:p>
        </p:txBody>
      </p:sp>
    </p:spTree>
    <p:extLst>
      <p:ext uri="{BB962C8B-B14F-4D97-AF65-F5344CB8AC3E}">
        <p14:creationId xmlns:p14="http://schemas.microsoft.com/office/powerpoint/2010/main" val="223160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488151C1-EF1A-CE9D-0598-23E48CA9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29ED8063-A343-140D-463E-28B70C7AA3BE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CF3BA01B-D7DA-F24E-EC95-60816C9E5F99}"/>
              </a:ext>
            </a:extLst>
          </p:cNvPr>
          <p:cNvSpPr txBox="1"/>
          <p:nvPr/>
        </p:nvSpPr>
        <p:spPr>
          <a:xfrm>
            <a:off x="1086743" y="1800488"/>
            <a:ext cx="10659101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sz="1800" b="1" dirty="0"/>
              <a:t>Формирование документа:</a:t>
            </a:r>
            <a:r>
              <a:rPr lang="ru-RU" sz="1800" dirty="0"/>
              <a:t> Бухгалтер организации-плательщика (ООО «Вектор») формирует платежное поручение в учетной системе. Документ заполняется в строгом соответствии с Приказом Минфина России № 107н: указываются КБК (79710212000061000160), статус плательщика (08 — для взносов в СФР), ИНН, КПП, реквизиты получателя — УФК по Красноярскому краю (ОСФР по Красноярскому краю) и регистрационный номер страхователя в назначении платежа .</a:t>
            </a:r>
          </a:p>
          <a:p>
            <a:endParaRPr lang="ru-RU" sz="1800" dirty="0"/>
          </a:p>
          <a:p>
            <a:r>
              <a:rPr lang="ru-RU" sz="1800" b="1" dirty="0"/>
              <a:t>2. Подписание и отправка:</a:t>
            </a:r>
            <a:r>
              <a:rPr lang="ru-RU" sz="1800" dirty="0"/>
              <a:t> Сформированный документ подписывается электронной цифровой подписью (ЭЦП) руководителя и отправляется в банк плательщика по системе "Клиент-Банк".</a:t>
            </a:r>
          </a:p>
          <a:p>
            <a:endParaRPr lang="ru-RU" sz="1800" dirty="0"/>
          </a:p>
          <a:p>
            <a:r>
              <a:rPr lang="ru-RU" sz="1800" b="1" dirty="0"/>
              <a:t>3. Контроль в банке плательщика:</a:t>
            </a:r>
            <a:r>
              <a:rPr lang="ru-RU" sz="1800" dirty="0"/>
              <a:t> Банк проверяет правильность заполнения реквизитов и достаточность средств на расчетном счете плательщика (40702810412300001111). При успешной проверке банк списывает сумму (6480,28 руб.).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67B8F761-549E-F2A8-3CA1-06D2D013A69F}"/>
              </a:ext>
            </a:extLst>
          </p:cNvPr>
          <p:cNvSpPr txBox="1"/>
          <p:nvPr/>
        </p:nvSpPr>
        <p:spPr>
          <a:xfrm>
            <a:off x="2241842" y="633853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Описание процесса работы с документом</a:t>
            </a:r>
          </a:p>
        </p:txBody>
      </p:sp>
    </p:spTree>
    <p:extLst>
      <p:ext uri="{BB962C8B-B14F-4D97-AF65-F5344CB8AC3E}">
        <p14:creationId xmlns:p14="http://schemas.microsoft.com/office/powerpoint/2010/main" val="78987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5252BA2-878C-EA20-5779-848D589C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C35CC4A0-FBC0-96A3-B5D8-7280B7A003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109FCC32-05A9-96F9-E02C-2B5703FB3E6C}"/>
              </a:ext>
            </a:extLst>
          </p:cNvPr>
          <p:cNvSpPr txBox="1"/>
          <p:nvPr/>
        </p:nvSpPr>
        <p:spPr>
          <a:xfrm>
            <a:off x="875425" y="2179630"/>
            <a:ext cx="1065910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dirty="0"/>
              <a:t>4. Межбанковские расчеты:</a:t>
            </a:r>
            <a:r>
              <a:rPr lang="ru-RU" sz="1800" dirty="0"/>
              <a:t> Средства переводятся через корреспондентскую сеть Банка России в банк получателя — Отделение Красноярск Банка России.</a:t>
            </a:r>
          </a:p>
          <a:p>
            <a:endParaRPr lang="ru-RU" sz="1800" dirty="0"/>
          </a:p>
          <a:p>
            <a:r>
              <a:rPr lang="ru-RU" sz="1800" b="1" dirty="0"/>
              <a:t>5. Зачисление средств:</a:t>
            </a:r>
            <a:r>
              <a:rPr lang="ru-RU" sz="1800" dirty="0"/>
              <a:t> Средства зачисляются на счет получателя — УФК по Красноярскому краю (счет 03100643000000011900). Орган Федерального казначейства доводит информацию до конкретного администратора доходов — Отделения СФР по Красноярскому краю.</a:t>
            </a:r>
          </a:p>
          <a:p>
            <a:endParaRPr lang="ru-RU" sz="1800" dirty="0"/>
          </a:p>
          <a:p>
            <a:r>
              <a:rPr lang="ru-RU" sz="1800" b="1" dirty="0"/>
              <a:t>6. Подтверждение и выписка:</a:t>
            </a:r>
            <a:r>
              <a:rPr lang="ru-RU" sz="1800" dirty="0"/>
              <a:t> Плательщик получает подтверждение об исполнении операции. В системе "Клиент-Банк" формируется выписка, отражающая списание средств.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C294E4FA-60F1-6685-0C29-B5F56E6221CE}"/>
              </a:ext>
            </a:extLst>
          </p:cNvPr>
          <p:cNvSpPr txBox="1"/>
          <p:nvPr/>
        </p:nvSpPr>
        <p:spPr>
          <a:xfrm>
            <a:off x="2241842" y="633853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Описание процесса работы с документом</a:t>
            </a:r>
          </a:p>
        </p:txBody>
      </p:sp>
    </p:spTree>
    <p:extLst>
      <p:ext uri="{BB962C8B-B14F-4D97-AF65-F5344CB8AC3E}">
        <p14:creationId xmlns:p14="http://schemas.microsoft.com/office/powerpoint/2010/main" val="125899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E60ECE8-BB05-52BF-D458-5D43C972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B4029AC7-8676-9F19-1C00-2E26F60A9570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31D9613E-FACE-B733-BFE3-AB0713880220}"/>
              </a:ext>
            </a:extLst>
          </p:cNvPr>
          <p:cNvSpPr txBox="1"/>
          <p:nvPr/>
        </p:nvSpPr>
        <p:spPr>
          <a:xfrm>
            <a:off x="875425" y="2179630"/>
            <a:ext cx="1065910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/>
              <a:t>ЭЛКОД.</a:t>
            </a:r>
            <a:r>
              <a:rPr lang="ru-RU" sz="2000" dirty="0"/>
              <a:t> Компания получила требования на уплату страховых взносов из СФР и налоговой инспекции. [Электронный ресурс]. — Режим доступа: </a:t>
            </a:r>
            <a:r>
              <a:rPr lang="ru-RU" sz="2000" dirty="0">
                <a:hlinkClick r:id="rId3"/>
              </a:rPr>
              <a:t>https://elcode.ru/service/news/populyarnie-voprosy-otvety/kompaniya-poluchila-trebovaniya-na-uplatu-strahovy</a:t>
            </a:r>
            <a:r>
              <a:rPr lang="ru-RU" sz="2000" dirty="0"/>
              <a:t> (дата обращения: 26.02.2026) </a:t>
            </a:r>
          </a:p>
          <a:p>
            <a:endParaRPr lang="ru-RU" sz="2000" dirty="0"/>
          </a:p>
          <a:p>
            <a:r>
              <a:rPr lang="ru-RU" sz="2000" dirty="0"/>
              <a:t>Приказ Минфина России от 12.11.2013 № 107н "Об утверждении Правил указания информации в реквизитах распоряжений о переводе денежных средств..." // СПС "КонсультантПлюс".</a:t>
            </a:r>
          </a:p>
          <a:p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7C7F80A-C142-535B-A2C1-7FEDC54BFBE4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Ссылки на источники</a:t>
            </a:r>
          </a:p>
        </p:txBody>
      </p:sp>
    </p:spTree>
    <p:extLst>
      <p:ext uri="{BB962C8B-B14F-4D97-AF65-F5344CB8AC3E}">
        <p14:creationId xmlns:p14="http://schemas.microsoft.com/office/powerpoint/2010/main" val="390224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818FB90-E546-D63E-C10D-DE400A0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0528975A-A9F1-B101-5F72-6857ACFC8F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7D44F456-2B58-C4C7-C423-43355E4B4F3E}"/>
              </a:ext>
            </a:extLst>
          </p:cNvPr>
          <p:cNvSpPr txBox="1"/>
          <p:nvPr/>
        </p:nvSpPr>
        <p:spPr>
          <a:xfrm>
            <a:off x="1166425" y="1566314"/>
            <a:ext cx="1065910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/>
              <a:t>Для построения диаграммы был выбран веб-редактор </a:t>
            </a:r>
            <a:r>
              <a:rPr lang="en-US" sz="2000" b="1" dirty="0"/>
              <a:t>Draw</a:t>
            </a:r>
            <a:r>
              <a:rPr lang="ru-RU" sz="2000" b="1" dirty="0"/>
              <a:t>.io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/>
              <a:t>Причины выбора:</a:t>
            </a:r>
          </a:p>
          <a:p>
            <a:r>
              <a:rPr lang="ru-RU" sz="2000" dirty="0"/>
              <a:t>	-не требует установки (работает в браузере);</a:t>
            </a:r>
          </a:p>
          <a:p>
            <a:r>
              <a:rPr lang="ru-RU" sz="2000" dirty="0"/>
              <a:t>	-поддерживает стандарт BPMN 2.0;</a:t>
            </a:r>
          </a:p>
          <a:p>
            <a:r>
              <a:rPr lang="ru-RU" sz="2000" dirty="0"/>
              <a:t>	-имеет интуитивный интерфейс </a:t>
            </a:r>
            <a:r>
              <a:rPr lang="ru-RU" sz="2000" dirty="0" err="1"/>
              <a:t>drag-and-drop</a:t>
            </a:r>
            <a:r>
              <a:rPr lang="ru-RU" sz="2000" dirty="0"/>
              <a:t>;</a:t>
            </a:r>
          </a:p>
          <a:p>
            <a:r>
              <a:rPr lang="ru-RU" sz="2000" dirty="0"/>
              <a:t>	-позволяет экспортировать диаграммы в форматах .</a:t>
            </a:r>
            <a:r>
              <a:rPr lang="ru-RU" sz="2000" dirty="0" err="1"/>
              <a:t>bpmn</a:t>
            </a:r>
            <a:r>
              <a:rPr lang="ru-RU" sz="2000" dirty="0"/>
              <a:t>, .</a:t>
            </a:r>
            <a:r>
              <a:rPr lang="ru-RU" sz="2000" dirty="0" err="1"/>
              <a:t>svg</a:t>
            </a:r>
            <a:r>
              <a:rPr lang="ru-RU" sz="2000" dirty="0"/>
              <a:t> и .</a:t>
            </a:r>
            <a:r>
              <a:rPr lang="ru-RU" sz="2000" dirty="0" err="1"/>
              <a:t>png</a:t>
            </a:r>
            <a:r>
              <a:rPr lang="ru-RU" sz="2000" dirty="0"/>
              <a:t>;</a:t>
            </a:r>
          </a:p>
          <a:p>
            <a:r>
              <a:rPr lang="ru-RU" sz="2000" dirty="0"/>
              <a:t>	-подходит для учебного и практического моделирования.</a:t>
            </a:r>
          </a:p>
          <a:p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8454B358-B5B4-518F-E0C1-4E3BF1E4C381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Выбор инструмента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54717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F8B14CC-2160-D01E-EA31-F110AE09E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762B2149-8A09-05BF-303D-1EB23EA87500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9B437DA9-5028-80B1-00DD-5F5FC8AAF215}"/>
              </a:ext>
            </a:extLst>
          </p:cNvPr>
          <p:cNvSpPr txBox="1"/>
          <p:nvPr/>
        </p:nvSpPr>
        <p:spPr>
          <a:xfrm>
            <a:off x="1471687" y="1246490"/>
            <a:ext cx="10010625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BPMN 2.0 (Business Process Model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2.0)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стандарт моделирования бизнес-процессов, который стал золотым стандартом в области управления бизнес-процессами. Он позволяет описывать понятным для всех участников языком: от аналитиков до разработчиков.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Стандартизация: Обеспечение единообразного понимания схем процессов всеми участниками проекта, независимо от их технической подготовки.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Устранение разрыва между бизнесом и IT: BPMN позволяет создать визуальную модель, которая понятна бизнесу, но при этом достаточно детализирована, чтобы на её основе IT-специалисты могли реализовать процесс в программном обеспечении (BPMS).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Анализ и оптимизация: Помогает выявить «узкие места», лишние шаги и неэффективные участки в работе компании.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Автоматизация: Благодаря XML-основе, диаграммы BPMN 2.0 могут быть напрямую импортированы в системы исполнения процессов для их автоматического запуска и контроля.</a:t>
            </a:r>
          </a:p>
          <a:p>
            <a:pPr algn="just"/>
            <a:endParaRPr lang="ru-RU" sz="18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8B75F9DA-A234-D50D-DFE7-7112E26536B5}"/>
              </a:ext>
            </a:extLst>
          </p:cNvPr>
          <p:cNvSpPr txBox="1"/>
          <p:nvPr/>
        </p:nvSpPr>
        <p:spPr>
          <a:xfrm>
            <a:off x="1008085" y="210228"/>
            <a:ext cx="10334216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b="1" dirty="0"/>
              <a:t>C</a:t>
            </a:r>
            <a:r>
              <a:rPr lang="ru-RU" sz="3200" b="1" dirty="0" err="1"/>
              <a:t>тандарт</a:t>
            </a:r>
            <a:r>
              <a:rPr lang="ru-RU" sz="3200" b="1" dirty="0"/>
              <a:t> BPMN 2.0</a:t>
            </a:r>
            <a:r>
              <a:rPr lang="en-US" sz="3200" b="1" dirty="0"/>
              <a:t> </a:t>
            </a:r>
            <a:r>
              <a:rPr lang="ru-RU" sz="3200" b="1" dirty="0"/>
              <a:t>и его назначение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2370539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193826E-EF75-4EC3-FBAC-89506BD2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DA95725-52A6-B9FE-9758-2B4143CA13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9C2DDD59-5A45-73BE-BAED-78FB23FF5CE3}"/>
              </a:ext>
            </a:extLst>
          </p:cNvPr>
          <p:cNvSpPr txBox="1"/>
          <p:nvPr/>
        </p:nvSpPr>
        <p:spPr>
          <a:xfrm>
            <a:off x="555523" y="870875"/>
            <a:ext cx="11814052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BPMN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 предлагает богатую библиотеку символов, но построена она по принципу "от простого к сложному". Все элементы делятся на:</a:t>
            </a: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потока управления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Objects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Это "глаголы" процесса.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То, что происходит в ходе процесса (кружки). Делятся на стартовые, промежуточные и конечные. Могут быть разного типа (таймер, получение сообщения, ошибка).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Работа, которая выполняется (прямоугольники со скругленными углами). Бывают простыми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или составными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Шлюзы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Точки ветвления и слияния потоков (ромбы). Определяют логику ("И", "ИЛИ", "исключающее ИЛИ").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 управления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Flow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Показывает порядок выполнения (сплошная линия).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 сообщений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Flow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Показывает обмен данными между разными участниками (пулами) (пунктирная линия).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Пул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Один участник процесса (например, "Банк" или "Клиент").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Дорожка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Подразделение или роль внутри пула (например, "Кредитный инспектор", "Служба безопасности").</a:t>
            </a:r>
          </a:p>
          <a:p>
            <a:pPr algn="just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отличие от версии 1.x и других нотаций в версии 2.0 модель и нотация были объединены. Теперь у диаграммы есть не только внешний вид (форма кружочков и квадратиков), но и четко прописанная семантика поведения. Это значит, что два разных движка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(BPMS) выполнят одну и ту же BPMN-диаграмму одинаково.</a:t>
            </a:r>
          </a:p>
          <a:p>
            <a:endParaRPr lang="ru-RU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36C021A-772F-A7C2-CD73-7F6965F924D9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Особенности стандарта </a:t>
            </a:r>
            <a:r>
              <a:rPr lang="en-US" sz="3200" b="1" dirty="0"/>
              <a:t>BPMN 2.0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88377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FCF2A12-211C-11C1-E7D4-B788C8B6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658A66D3-D642-954F-1DD3-DA752D336168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A7738DCB-9942-1498-3AF9-DADD5AB8AC99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Диаграмма </a:t>
            </a:r>
            <a:r>
              <a:rPr lang="en-US" sz="3200" b="1" dirty="0"/>
              <a:t>BPMN</a:t>
            </a:r>
          </a:p>
        </p:txBody>
      </p:sp>
      <p:pic>
        <p:nvPicPr>
          <p:cNvPr id="3" name="Рисунок 2" descr="Изображение выглядит как текст, снимок экрана, диаграмма, сх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18D14C-646E-C941-B36B-6B7F057C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467" y="1087184"/>
            <a:ext cx="5780049" cy="516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97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7F36849-4FA3-51B8-26D8-97587323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A6EB2384-2E47-E1C2-11FD-7C9ED0B03E1F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BB00B55E-279B-52EA-26D0-C76B6D883D90}"/>
              </a:ext>
            </a:extLst>
          </p:cNvPr>
          <p:cNvSpPr txBox="1"/>
          <p:nvPr/>
        </p:nvSpPr>
        <p:spPr>
          <a:xfrm>
            <a:off x="1563329" y="229891"/>
            <a:ext cx="8405845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Концептуальная модель базы данных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AA766-B4C6-4C7B-9471-9A2D020311AD}"/>
              </a:ext>
            </a:extLst>
          </p:cNvPr>
          <p:cNvSpPr txBox="1"/>
          <p:nvPr/>
        </p:nvSpPr>
        <p:spPr>
          <a:xfrm>
            <a:off x="875425" y="1666267"/>
            <a:ext cx="106283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этом этапе определяются основные сущности предметной области и связи между ними.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Сущности:</a:t>
            </a: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Плательщик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юридическое лицо, осуществляющее платеж (ООО «Вектор»).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Получатель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администратор доходов бюджета (ОСФР).</a:t>
            </a: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кредитная организация, через которую проходит платеж (банк плательщика или получателя).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Платежное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Поручение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документ, фиксирующий факт перечисления средств.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Связи:</a:t>
            </a: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Плательщик может инициировать множество платежных поручений (1:N).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Получатель может получать множество платежей (1:N).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 обслуживает множество плательщиков и получателей (1:N).</a:t>
            </a:r>
          </a:p>
        </p:txBody>
      </p:sp>
    </p:spTree>
    <p:extLst>
      <p:ext uri="{BB962C8B-B14F-4D97-AF65-F5344CB8AC3E}">
        <p14:creationId xmlns:p14="http://schemas.microsoft.com/office/powerpoint/2010/main" val="290731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441D0FD5-EBB9-4036-7383-CD9885DD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94B83D3C-CE95-FD67-CDB3-5722AB51B59A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3FDA2D8-933A-A395-CC97-6430A0133826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Логическая модель базы данных</a:t>
            </a:r>
            <a:endParaRPr lang="en-US" sz="32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E0FC925-AB3F-14D7-D889-2750CC4EE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802179"/>
              </p:ext>
            </p:extLst>
          </p:nvPr>
        </p:nvGraphicFramePr>
        <p:xfrm>
          <a:off x="1081071" y="860807"/>
          <a:ext cx="10791857" cy="5526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3274">
                  <a:extLst>
                    <a:ext uri="{9D8B030D-6E8A-4147-A177-3AD203B41FA5}">
                      <a16:colId xmlns:a16="http://schemas.microsoft.com/office/drawing/2014/main" val="1099830958"/>
                    </a:ext>
                  </a:extLst>
                </a:gridCol>
                <a:gridCol w="1328959">
                  <a:extLst>
                    <a:ext uri="{9D8B030D-6E8A-4147-A177-3AD203B41FA5}">
                      <a16:colId xmlns:a16="http://schemas.microsoft.com/office/drawing/2014/main" val="2333404635"/>
                    </a:ext>
                  </a:extLst>
                </a:gridCol>
                <a:gridCol w="1286920">
                  <a:extLst>
                    <a:ext uri="{9D8B030D-6E8A-4147-A177-3AD203B41FA5}">
                      <a16:colId xmlns:a16="http://schemas.microsoft.com/office/drawing/2014/main" val="1023074409"/>
                    </a:ext>
                  </a:extLst>
                </a:gridCol>
                <a:gridCol w="1747777">
                  <a:extLst>
                    <a:ext uri="{9D8B030D-6E8A-4147-A177-3AD203B41FA5}">
                      <a16:colId xmlns:a16="http://schemas.microsoft.com/office/drawing/2014/main" val="1483384741"/>
                    </a:ext>
                  </a:extLst>
                </a:gridCol>
                <a:gridCol w="2419109">
                  <a:extLst>
                    <a:ext uri="{9D8B030D-6E8A-4147-A177-3AD203B41FA5}">
                      <a16:colId xmlns:a16="http://schemas.microsoft.com/office/drawing/2014/main" val="1957304701"/>
                    </a:ext>
                  </a:extLst>
                </a:gridCol>
                <a:gridCol w="2565818">
                  <a:extLst>
                    <a:ext uri="{9D8B030D-6E8A-4147-A177-3AD203B41FA5}">
                      <a16:colId xmlns:a16="http://schemas.microsoft.com/office/drawing/2014/main" val="764628753"/>
                    </a:ext>
                  </a:extLst>
                </a:gridCol>
              </a:tblGrid>
              <a:tr h="4745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Таблица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225" marR="172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Атрибут (поле)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данных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Связь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Примечание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extLst>
                  <a:ext uri="{0D108BD9-81ED-4DB2-BD59-A6C34878D82A}">
                    <a16:rowId xmlns:a16="http://schemas.microsoft.com/office/drawing/2014/main" val="642142574"/>
                  </a:ext>
                </a:extLst>
              </a:tr>
              <a:tr h="43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Organizations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OrgID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Уникальный идентификатор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extLst>
                  <a:ext uri="{0D108BD9-81ED-4DB2-BD59-A6C34878D82A}">
                    <a16:rowId xmlns:a16="http://schemas.microsoft.com/office/drawing/2014/main" val="116027960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VARCHAR(12)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организации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223486482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KPP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(может быть NULL)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30192321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FullName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VARCHAR(255)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Полное наименование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18175024"/>
                  </a:ext>
                </a:extLst>
              </a:tr>
              <a:tr h="43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RegNumber_SFR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VARCHAR(15)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Регистрационный номер в СФР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1668287420"/>
                  </a:ext>
                </a:extLst>
              </a:tr>
              <a:tr h="43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Banks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— первичный ключ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extLst>
                  <a:ext uri="{0D108BD9-81ED-4DB2-BD59-A6C34878D82A}">
                    <a16:rowId xmlns:a16="http://schemas.microsoft.com/office/drawing/2014/main" val="294727955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BankName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VARCHAR(255)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банка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625761257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CorrAccount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Корреспондентский счет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713892362"/>
                  </a:ext>
                </a:extLst>
              </a:tr>
              <a:tr h="4435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KBKCode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бюджетной классификации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extLst>
                  <a:ext uri="{0D108BD9-81ED-4DB2-BD59-A6C34878D82A}">
                    <a16:rowId xmlns:a16="http://schemas.microsoft.com/office/drawing/2014/main" val="3036449887"/>
                  </a:ext>
                </a:extLst>
              </a:tr>
              <a:tr h="291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VARCHAR(255)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КБК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99669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41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BD30A3C5-DEC7-C2FB-4067-488E27D3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FA44962A-7743-B11C-7CFA-424F11226CFC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224EF88-FB10-0598-4736-3893200FF7DE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Логическая модель базы данных</a:t>
            </a:r>
            <a:endParaRPr lang="en-US" sz="3200" b="1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003AFCF-19AB-F26B-6B54-F81BEBC86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193518"/>
              </p:ext>
            </p:extLst>
          </p:nvPr>
        </p:nvGraphicFramePr>
        <p:xfrm>
          <a:off x="1081071" y="802811"/>
          <a:ext cx="10791857" cy="53710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3274">
                  <a:extLst>
                    <a:ext uri="{9D8B030D-6E8A-4147-A177-3AD203B41FA5}">
                      <a16:colId xmlns:a16="http://schemas.microsoft.com/office/drawing/2014/main" val="3914890266"/>
                    </a:ext>
                  </a:extLst>
                </a:gridCol>
                <a:gridCol w="1230960">
                  <a:extLst>
                    <a:ext uri="{9D8B030D-6E8A-4147-A177-3AD203B41FA5}">
                      <a16:colId xmlns:a16="http://schemas.microsoft.com/office/drawing/2014/main" val="2005511381"/>
                    </a:ext>
                  </a:extLst>
                </a:gridCol>
                <a:gridCol w="1384919">
                  <a:extLst>
                    <a:ext uri="{9D8B030D-6E8A-4147-A177-3AD203B41FA5}">
                      <a16:colId xmlns:a16="http://schemas.microsoft.com/office/drawing/2014/main" val="341845669"/>
                    </a:ext>
                  </a:extLst>
                </a:gridCol>
                <a:gridCol w="1747777">
                  <a:extLst>
                    <a:ext uri="{9D8B030D-6E8A-4147-A177-3AD203B41FA5}">
                      <a16:colId xmlns:a16="http://schemas.microsoft.com/office/drawing/2014/main" val="2392460447"/>
                    </a:ext>
                  </a:extLst>
                </a:gridCol>
                <a:gridCol w="2419109">
                  <a:extLst>
                    <a:ext uri="{9D8B030D-6E8A-4147-A177-3AD203B41FA5}">
                      <a16:colId xmlns:a16="http://schemas.microsoft.com/office/drawing/2014/main" val="28011696"/>
                    </a:ext>
                  </a:extLst>
                </a:gridCol>
                <a:gridCol w="2565818">
                  <a:extLst>
                    <a:ext uri="{9D8B030D-6E8A-4147-A177-3AD203B41FA5}">
                      <a16:colId xmlns:a16="http://schemas.microsoft.com/office/drawing/2014/main" val="937194510"/>
                    </a:ext>
                  </a:extLst>
                </a:gridCol>
              </a:tblGrid>
              <a:tr h="2979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PaymentOrders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PaymentID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Уникальный ID платежа в системе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>
                    <a:solidFill>
                      <a:srgbClr val="F0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337643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DocNumber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VARCHAR(10)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 (9)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507520947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DocDate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документа (11.02.2025)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220076056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DECIMAL(15,2)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 (6480.28)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145512760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VARCHAR(210)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платежа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677027333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Organizations.OrgID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Кто платит</a:t>
                      </a:r>
                      <a:endParaRPr lang="ru-RU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641788618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PayerBankBIC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Banks.BIC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плательщика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946391446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Organizations.OrgID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Кто получает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63442412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PayeeBankBIC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</a:t>
                      </a:r>
                      <a:r>
                        <a:rPr lang="ru-RU" sz="15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Banks.BIC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получателя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412892691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KBKCode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KBK.KBKCode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КБК платежа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862173500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PayerStatus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плательщика (08)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880468433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Очередность (5)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96912073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Уникальный идентификатор (0)</a:t>
                      </a:r>
                      <a:endParaRPr lang="ru-RU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1191599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663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517E1F33-C4F0-C00A-3308-E439CC5A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949421A-FCE0-BBCA-8AEB-D6A9480989C4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F64748A-7FAD-AC7D-DD81-FFF0EC313404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Физическая модель базы данных</a:t>
            </a:r>
            <a:endParaRPr lang="en-US" sz="32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A99753-64F7-39CE-E7DD-1191A63A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021" y="938797"/>
            <a:ext cx="4035006" cy="525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72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9556E258-8069-7B7B-5D31-F7385C93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F80C181-A9AC-29D9-5874-BD3D3E20CA94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BA66BC85-9ED2-4512-B1C3-D0B1A15F50BA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Физическая модель базы данных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0F843-FFAD-D0F5-1CCE-2D8B28189C50}"/>
              </a:ext>
            </a:extLst>
          </p:cNvPr>
          <p:cNvSpPr txBox="1"/>
          <p:nvPr/>
        </p:nvSpPr>
        <p:spPr>
          <a:xfrm>
            <a:off x="414634" y="1048110"/>
            <a:ext cx="647962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-- Таблица банков</a:t>
            </a:r>
          </a:p>
          <a:p>
            <a:r>
              <a:rPr lang="ru-RU" dirty="0"/>
              <a:t>CREATE TABLE </a:t>
            </a:r>
            <a:r>
              <a:rPr lang="ru-RU" dirty="0" err="1"/>
              <a:t>Banks</a:t>
            </a:r>
            <a:r>
              <a:rPr lang="ru-RU" dirty="0"/>
              <a:t> (</a:t>
            </a:r>
          </a:p>
          <a:p>
            <a:r>
              <a:rPr lang="ru-RU" dirty="0"/>
              <a:t>    BIC VARCHAR(9) PRIMARY KEY,</a:t>
            </a:r>
          </a:p>
          <a:p>
            <a:r>
              <a:rPr lang="ru-RU" dirty="0"/>
              <a:t>    </a:t>
            </a:r>
            <a:r>
              <a:rPr lang="ru-RU" dirty="0" err="1"/>
              <a:t>BankName</a:t>
            </a:r>
            <a:r>
              <a:rPr lang="ru-RU" dirty="0"/>
              <a:t> VARCHAR(255) NOT NULL,</a:t>
            </a:r>
          </a:p>
          <a:p>
            <a:r>
              <a:rPr lang="ru-RU" dirty="0"/>
              <a:t>    </a:t>
            </a:r>
            <a:r>
              <a:rPr lang="ru-RU" dirty="0" err="1"/>
              <a:t>CorrAccount</a:t>
            </a:r>
            <a:r>
              <a:rPr lang="ru-RU" dirty="0"/>
              <a:t> VARCHAR(20) NOT NULL</a:t>
            </a:r>
          </a:p>
          <a:p>
            <a:r>
              <a:rPr lang="ru-RU" dirty="0"/>
              <a:t>);</a:t>
            </a:r>
          </a:p>
          <a:p>
            <a:endParaRPr lang="ru-RU" dirty="0"/>
          </a:p>
          <a:p>
            <a:r>
              <a:rPr lang="ru-RU" dirty="0"/>
              <a:t>-- Таблица организаций (плательщики/получатели)</a:t>
            </a:r>
          </a:p>
          <a:p>
            <a:r>
              <a:rPr lang="ru-RU" dirty="0"/>
              <a:t>CREATE TABLE </a:t>
            </a:r>
            <a:r>
              <a:rPr lang="ru-RU" dirty="0" err="1"/>
              <a:t>Organizations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ru-RU" dirty="0" err="1"/>
              <a:t>OrgID</a:t>
            </a:r>
            <a:r>
              <a:rPr lang="ru-RU" dirty="0"/>
              <a:t> SERIAL PRIMARY KEY,</a:t>
            </a:r>
          </a:p>
          <a:p>
            <a:r>
              <a:rPr lang="ru-RU" dirty="0"/>
              <a:t>    INN VARCHAR(12) NOT NULL,</a:t>
            </a:r>
          </a:p>
          <a:p>
            <a:r>
              <a:rPr lang="ru-RU" dirty="0"/>
              <a:t>    KPP VARCHAR(9),</a:t>
            </a:r>
          </a:p>
          <a:p>
            <a:r>
              <a:rPr lang="ru-RU" dirty="0"/>
              <a:t>    </a:t>
            </a:r>
            <a:r>
              <a:rPr lang="ru-RU" dirty="0" err="1"/>
              <a:t>FullName</a:t>
            </a:r>
            <a:r>
              <a:rPr lang="ru-RU" dirty="0"/>
              <a:t> VARCHAR(255) NOT NULL,</a:t>
            </a:r>
          </a:p>
          <a:p>
            <a:r>
              <a:rPr lang="ru-RU" dirty="0"/>
              <a:t>    </a:t>
            </a:r>
            <a:r>
              <a:rPr lang="ru-RU" dirty="0" err="1"/>
              <a:t>RegNumber_SFR</a:t>
            </a:r>
            <a:r>
              <a:rPr lang="ru-RU" dirty="0"/>
              <a:t> VARCHAR(15),</a:t>
            </a:r>
          </a:p>
          <a:p>
            <a:r>
              <a:rPr lang="ru-RU" dirty="0"/>
              <a:t>    CONSTRAINT </a:t>
            </a:r>
            <a:r>
              <a:rPr lang="ru-RU" dirty="0" err="1"/>
              <a:t>unique_org</a:t>
            </a:r>
            <a:r>
              <a:rPr lang="ru-RU" dirty="0"/>
              <a:t> UNIQUE (INN, KPP)</a:t>
            </a:r>
          </a:p>
          <a:p>
            <a:r>
              <a:rPr lang="ru-RU" dirty="0"/>
              <a:t>);</a:t>
            </a:r>
          </a:p>
          <a:p>
            <a:endParaRPr lang="ru-RU" dirty="0"/>
          </a:p>
          <a:p>
            <a:r>
              <a:rPr lang="ru-RU" dirty="0"/>
              <a:t>-- Справочник КБК</a:t>
            </a:r>
          </a:p>
          <a:p>
            <a:r>
              <a:rPr lang="ru-RU" dirty="0"/>
              <a:t>CREATE TABLE KBK (</a:t>
            </a:r>
          </a:p>
          <a:p>
            <a:r>
              <a:rPr lang="ru-RU" dirty="0"/>
              <a:t>    </a:t>
            </a:r>
            <a:r>
              <a:rPr lang="ru-RU" dirty="0" err="1"/>
              <a:t>KBKCode</a:t>
            </a:r>
            <a:r>
              <a:rPr lang="ru-RU" dirty="0"/>
              <a:t> VARCHAR(20) PRIMARY KEY,</a:t>
            </a:r>
          </a:p>
          <a:p>
            <a:r>
              <a:rPr lang="ru-RU" dirty="0"/>
              <a:t>    </a:t>
            </a:r>
            <a:r>
              <a:rPr lang="ru-RU" dirty="0" err="1"/>
              <a:t>Description</a:t>
            </a:r>
            <a:r>
              <a:rPr lang="ru-RU" dirty="0"/>
              <a:t> VARCHAR(255) NOT NULL</a:t>
            </a:r>
          </a:p>
          <a:p>
            <a:r>
              <a:rPr lang="ru-RU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57560-71FD-C246-B9F3-6936417E02AD}"/>
              </a:ext>
            </a:extLst>
          </p:cNvPr>
          <p:cNvSpPr txBox="1"/>
          <p:nvPr/>
        </p:nvSpPr>
        <p:spPr>
          <a:xfrm>
            <a:off x="5869502" y="952398"/>
            <a:ext cx="64796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-- Таблица платежных поручений</a:t>
            </a:r>
          </a:p>
          <a:p>
            <a:r>
              <a:rPr lang="ru-RU" dirty="0"/>
              <a:t>CREATE TABLE </a:t>
            </a:r>
            <a:r>
              <a:rPr lang="ru-RU" dirty="0" err="1"/>
              <a:t>PaymentOrders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ru-RU" dirty="0" err="1"/>
              <a:t>PaymentID</a:t>
            </a:r>
            <a:r>
              <a:rPr lang="ru-RU" dirty="0"/>
              <a:t> SERIAL PRIMARY KEY,</a:t>
            </a:r>
          </a:p>
          <a:p>
            <a:r>
              <a:rPr lang="ru-RU" dirty="0"/>
              <a:t>    </a:t>
            </a:r>
            <a:r>
              <a:rPr lang="ru-RU" dirty="0" err="1"/>
              <a:t>DocNumber</a:t>
            </a:r>
            <a:r>
              <a:rPr lang="ru-RU" dirty="0"/>
              <a:t> VARCHAR(10) NOT NULL,</a:t>
            </a:r>
          </a:p>
          <a:p>
            <a:r>
              <a:rPr lang="ru-RU" dirty="0"/>
              <a:t>    </a:t>
            </a:r>
            <a:r>
              <a:rPr lang="ru-RU" dirty="0" err="1"/>
              <a:t>DocDate</a:t>
            </a:r>
            <a:r>
              <a:rPr lang="ru-RU" dirty="0"/>
              <a:t> DATE NOT NULL DEFAULT CURRENT_DATE,</a:t>
            </a:r>
          </a:p>
          <a:p>
            <a:r>
              <a:rPr lang="ru-RU" dirty="0"/>
              <a:t>    </a:t>
            </a:r>
            <a:r>
              <a:rPr lang="ru-RU" dirty="0" err="1"/>
              <a:t>Amount</a:t>
            </a:r>
            <a:r>
              <a:rPr lang="ru-RU" dirty="0"/>
              <a:t> DECIMAL(15,2) NOT NULL,</a:t>
            </a:r>
          </a:p>
          <a:p>
            <a:r>
              <a:rPr lang="ru-RU" dirty="0"/>
              <a:t>    </a:t>
            </a:r>
            <a:r>
              <a:rPr lang="ru-RU" dirty="0" err="1"/>
              <a:t>Purpose</a:t>
            </a:r>
            <a:r>
              <a:rPr lang="ru-RU" dirty="0"/>
              <a:t> VARCHAR(210) NOT NULL,</a:t>
            </a:r>
          </a:p>
          <a:p>
            <a:r>
              <a:rPr lang="ru-RU" dirty="0"/>
              <a:t>    </a:t>
            </a:r>
            <a:r>
              <a:rPr lang="ru-RU" dirty="0" err="1"/>
              <a:t>PayerStatus</a:t>
            </a:r>
            <a:r>
              <a:rPr lang="ru-RU" dirty="0"/>
              <a:t> INT NOT NULL,</a:t>
            </a:r>
          </a:p>
          <a:p>
            <a:r>
              <a:rPr lang="ru-RU" dirty="0"/>
              <a:t>    </a:t>
            </a:r>
            <a:r>
              <a:rPr lang="ru-RU" dirty="0" err="1"/>
              <a:t>PaymentOrder</a:t>
            </a:r>
            <a:r>
              <a:rPr lang="ru-RU" dirty="0"/>
              <a:t> INT NOT NULL,</a:t>
            </a:r>
          </a:p>
          <a:p>
            <a:r>
              <a:rPr lang="ru-RU" dirty="0"/>
              <a:t>    UIN VARCHAR(25),</a:t>
            </a:r>
          </a:p>
          <a:p>
            <a:r>
              <a:rPr lang="ru-RU" dirty="0"/>
              <a:t>    </a:t>
            </a:r>
            <a:r>
              <a:rPr lang="ru-RU" dirty="0" err="1"/>
              <a:t>PayerID</a:t>
            </a:r>
            <a:r>
              <a:rPr lang="ru-RU" dirty="0"/>
              <a:t> INT NOT NULL REFERENCES </a:t>
            </a:r>
            <a:r>
              <a:rPr lang="ru-RU" dirty="0" err="1"/>
              <a:t>Organizations</a:t>
            </a:r>
            <a:r>
              <a:rPr lang="ru-RU" dirty="0"/>
              <a:t>(</a:t>
            </a:r>
            <a:r>
              <a:rPr lang="ru-RU" dirty="0" err="1"/>
              <a:t>OrgID</a:t>
            </a:r>
            <a:r>
              <a:rPr lang="ru-RU" dirty="0"/>
              <a:t>),</a:t>
            </a:r>
          </a:p>
          <a:p>
            <a:r>
              <a:rPr lang="ru-RU" dirty="0"/>
              <a:t>    </a:t>
            </a:r>
            <a:r>
              <a:rPr lang="ru-RU" dirty="0" err="1"/>
              <a:t>PayeeID</a:t>
            </a:r>
            <a:r>
              <a:rPr lang="ru-RU" dirty="0"/>
              <a:t> INT NOT NULL REFERENCES </a:t>
            </a:r>
            <a:r>
              <a:rPr lang="ru-RU" dirty="0" err="1"/>
              <a:t>Organizations</a:t>
            </a:r>
            <a:r>
              <a:rPr lang="ru-RU" dirty="0"/>
              <a:t>(</a:t>
            </a:r>
            <a:r>
              <a:rPr lang="ru-RU" dirty="0" err="1"/>
              <a:t>OrgID</a:t>
            </a:r>
            <a:r>
              <a:rPr lang="ru-RU" dirty="0"/>
              <a:t>),</a:t>
            </a:r>
          </a:p>
          <a:p>
            <a:r>
              <a:rPr lang="ru-RU" dirty="0"/>
              <a:t>    </a:t>
            </a:r>
            <a:r>
              <a:rPr lang="ru-RU" dirty="0" err="1"/>
              <a:t>PayerBankBIC</a:t>
            </a:r>
            <a:r>
              <a:rPr lang="ru-RU" dirty="0"/>
              <a:t> VARCHAR(9) NOT NULL REFERENCES </a:t>
            </a:r>
            <a:r>
              <a:rPr lang="ru-RU" dirty="0" err="1"/>
              <a:t>Banks</a:t>
            </a:r>
            <a:r>
              <a:rPr lang="ru-RU" dirty="0"/>
              <a:t>(BIC),</a:t>
            </a:r>
          </a:p>
          <a:p>
            <a:r>
              <a:rPr lang="ru-RU" dirty="0"/>
              <a:t>    </a:t>
            </a:r>
            <a:r>
              <a:rPr lang="ru-RU" dirty="0" err="1"/>
              <a:t>PayeeBankBIC</a:t>
            </a:r>
            <a:r>
              <a:rPr lang="ru-RU" dirty="0"/>
              <a:t> VARCHAR(9) NOT NULL REFERENCES </a:t>
            </a:r>
            <a:r>
              <a:rPr lang="ru-RU" dirty="0" err="1"/>
              <a:t>Banks</a:t>
            </a:r>
            <a:r>
              <a:rPr lang="ru-RU" dirty="0"/>
              <a:t>(BIC),</a:t>
            </a:r>
          </a:p>
          <a:p>
            <a:r>
              <a:rPr lang="ru-RU" dirty="0"/>
              <a:t>    </a:t>
            </a:r>
            <a:r>
              <a:rPr lang="ru-RU" dirty="0" err="1"/>
              <a:t>KBKCode</a:t>
            </a:r>
            <a:r>
              <a:rPr lang="ru-RU" dirty="0"/>
              <a:t> VARCHAR(20) NOT NULL REFERENCES KBK(</a:t>
            </a:r>
            <a:r>
              <a:rPr lang="ru-RU" dirty="0" err="1"/>
              <a:t>KBKCode</a:t>
            </a:r>
            <a:r>
              <a:rPr lang="ru-RU" dirty="0"/>
              <a:t>)</a:t>
            </a:r>
          </a:p>
          <a:p>
            <a:r>
              <a:rPr lang="ru-RU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754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</a:pPr>
            <a:r>
              <a:rPr lang="en-US" sz="69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dirty="0"/>
          </a:p>
        </p:txBody>
      </p:sp>
      <p:sp>
        <p:nvSpPr>
          <p:cNvPr id="942" name="Google Shape;942;p112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</p:txBody>
      </p:sp>
      <p:sp>
        <p:nvSpPr>
          <p:cNvPr id="943" name="Google Shape;943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2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2208</Words>
  <Application>Microsoft Office PowerPoint</Application>
  <PresentationFormat>Произвольный</PresentationFormat>
  <Paragraphs>476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Times New Roman</vt:lpstr>
      <vt:lpstr>Arial</vt:lpstr>
      <vt:lpstr>Helvetica Neue</vt:lpstr>
      <vt:lpstr>Calibri</vt:lpstr>
      <vt:lpstr>Тема Office</vt:lpstr>
      <vt:lpstr>Лабораторная работа №2</vt:lpstr>
      <vt:lpstr>Цель работы</vt:lpstr>
      <vt:lpstr>Используемое ПО</vt:lpstr>
      <vt:lpstr>Платежное поручение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Arti</dc:creator>
  <cp:lastModifiedBy>Arti</cp:lastModifiedBy>
  <cp:revision>16</cp:revision>
  <dcterms:modified xsi:type="dcterms:W3CDTF">2026-02-26T09:11:45Z</dcterms:modified>
</cp:coreProperties>
</file>